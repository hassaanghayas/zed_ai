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Hi judges, we're Team Studify AI, Education track. One line: we built an AI tutor that makes learners more capable, not more dependent. Everything today is working software, and I'll show it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Two failure modes. Video lectures are passive: you feel like you understood, but nothing forced recall. And the popular fix, AI that just hands out answers, makes it worse: the tool does the thinking. For students, especially where access to good tutors is limited, that dependence is the real risk. Note: add a sourced statistic here if the team has one; we deliberately didn't invent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Our insight is to flip the roles. Studify never gives the answer first. It pauses the lecture, asks the student to explain the idea, finds the gap in their understanding, and asks again. Capability comes from retrieval and correction, which is active recall, a well-studied learning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Paste any public YouTube lecture. We pull the captions and Gemini splits it into 3 to 6 chapters, anchored to real caption timestamps. The player pauses at each chapter end and will not let you skip ahead until you answer. Questions come from what the lecture said, not from generic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This is the core of the product. The evaluator returns one of three verdicts, a mastery score, and lists what you understood, what is missing, and which misconception you hold. The follow-up gets narrower with each attempt. The three-attempt ceiling is enforced on the server, not trusted to the model, and we never mark an answer correct just because attempts ran out. That keeps the learner honest and unblocked.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Lectures are visual, so the tutor is too. Explain this screen sends the paused frame to Gemini vision and returns the equation as LaTeX, the diagram description, and the key concept. Students can answer by voice. Everything degrades gracefully: if media tools are unavailable, text-only mode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At the end the student gets study notes assembled from their own answers, polished for grammar but preserving their ideas, with a Concepts to Revisit list for every misconception we found. They download it as a PDF. The dashboard shows mastery per chapter, so they know what to review before an exam. Screens shown are from a real session on the 3Blue1Brown neural-network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Viability. Thin React front end on Vercel, FastAPI backend, no database. The AI layer is a fallback chain of Gemini models, and if all of them fail, heuristic fallbacks keep the core flow alive, so a demo or a classroom never dead-ends. Users can bring their own key. We built it with Alibaba Cloud's Qoder agentic coding platform. The model layer is swappable, which is why Qwen on Model Studio is first on our roadmap. Be ready: we did not deploy on Alibaba Cloud, so say that plainly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 Play the recording. Narrate: paste a lecture, chapters appear, video pauses and locks, wrong answer gets a misconception diagnosis, a better answer unlocks the next chapter, Explain screen, then download the PDF notes. Backup: if video fails, the screenshots on slides 4 to 7 show each step. Keep studify_demo.mp4 in the same folder as this deck and link the poster image to it (Insert &gt; Link)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We would rather tell you the limits than have you find them. It needs captions, very long lectures are truncated for chaptering, and frame analysis depends on downloading video. Next steps: Qwen on Model Studio as a second model backend, Urdu and regional languages, and a teacher view. Roadmap items are plans, not shipped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Studify AI exists so learners become more capable, not more dependent. It is live, you can try it now, and we would love your questions. 3-minute cut: slides 1, 3, 4, 5, 9, 11. 5-minute cut: add 2, 6, 7,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on the evaluator.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on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7863840" y="-1463040"/>
            <a:ext cx="6583680" cy="6583680"/>
          </a:xfrm>
          <a:prstGeom prst="ellipse">
            <a:avLst/>
          </a:prstGeom>
          <a:solidFill>
            <a:srgbClr val="FF4D1F">
              <a:alpha val="88000"/>
            </a:srgbClr>
          </a:solidFill>
          <a:ln w="12700">
            <a:solidFill>
              <a:srgbClr val="FF4D1F">
                <a:alpha val="0"/>
              </a:srgbClr>
            </a:solidFill>
            <a:prstDash val="solid"/>
          </a:ln>
        </p:spPr>
      </p:sp>
      <p:sp>
        <p:nvSpPr>
          <p:cNvPr id="3" name="Shape 1"/>
          <p:cNvSpPr/>
          <p:nvPr/>
        </p:nvSpPr>
        <p:spPr>
          <a:xfrm>
            <a:off x="9692640" y="3291840"/>
            <a:ext cx="4206240" cy="4206240"/>
          </a:xfrm>
          <a:prstGeom prst="ellipse">
            <a:avLst/>
          </a:prstGeom>
          <a:solidFill>
            <a:srgbClr val="BA300F">
              <a:alpha val="80000"/>
            </a:srgbClr>
          </a:solidFill>
          <a:ln w="12700">
            <a:solidFill>
              <a:srgbClr val="BA300F">
                <a:alpha val="0"/>
              </a:srgbClr>
            </a:solidFill>
            <a:prstDash val="solid"/>
          </a:ln>
        </p:spPr>
      </p:sp>
      <p:pic>
        <p:nvPicPr>
          <p:cNvPr id="4" name="Image 0" descr="Studify AI logo">    </p:cNvPr>
          <p:cNvPicPr>
            <a:picLocks noChangeAspect="1"/>
          </p:cNvPicPr>
          <p:nvPr/>
        </p:nvPicPr>
        <p:blipFill>
          <a:blip r:embed="rId1"/>
          <a:stretch>
            <a:fillRect/>
          </a:stretch>
        </p:blipFill>
        <p:spPr>
          <a:xfrm>
            <a:off x="640080" y="731520"/>
            <a:ext cx="822960" cy="822960"/>
          </a:xfrm>
          <a:prstGeom prst="rect">
            <a:avLst/>
          </a:prstGeom>
        </p:spPr>
      </p:pic>
      <p:sp>
        <p:nvSpPr>
          <p:cNvPr id="5" name="Text 2"/>
          <p:cNvSpPr txBox="1"/>
          <p:nvPr/>
        </p:nvSpPr>
        <p:spPr>
          <a:xfrm>
            <a:off x="640080" y="2011680"/>
            <a:ext cx="7315200" cy="1188720"/>
          </a:xfrm>
          <a:prstGeom prst="rect">
            <a:avLst/>
          </a:prstGeom>
          <a:noFill/>
          <a:ln/>
        </p:spPr>
        <p:txBody>
          <a:bodyPr wrap="square" lIns="0" tIns="0" rIns="0" bIns="0" rtlCol="0" anchor="ctr"/>
          <a:lstStyle/>
          <a:p>
            <a:pPr indent="0" marL="0">
              <a:buNone/>
            </a:pPr>
            <a:r>
              <a:rPr lang="en-US" sz="6600" b="1" dirty="0">
                <a:solidFill>
                  <a:srgbClr val="15130F"/>
                </a:solidFill>
                <a:latin typeface="Cambria" pitchFamily="34" charset="0"/>
                <a:ea typeface="Cambria" pitchFamily="34" charset="-122"/>
                <a:cs typeface="Cambria" pitchFamily="34" charset="-120"/>
              </a:rPr>
              <a:t>Studify AI</a:t>
            </a:r>
            <a:endParaRPr lang="en-US" sz="6600" dirty="0"/>
          </a:p>
        </p:txBody>
      </p:sp>
      <p:sp>
        <p:nvSpPr>
          <p:cNvPr id="6" name="Text 3"/>
          <p:cNvSpPr txBox="1"/>
          <p:nvPr/>
        </p:nvSpPr>
        <p:spPr>
          <a:xfrm>
            <a:off x="640080" y="3246120"/>
            <a:ext cx="7132320" cy="914400"/>
          </a:xfrm>
          <a:prstGeom prst="rect">
            <a:avLst/>
          </a:prstGeom>
          <a:noFill/>
          <a:ln/>
        </p:spPr>
        <p:txBody>
          <a:bodyPr wrap="square" lIns="0" tIns="0" rIns="0" bIns="0" rtlCol="0" anchor="t"/>
          <a:lstStyle/>
          <a:p>
            <a:pPr indent="0" marL="0">
              <a:buNone/>
            </a:pPr>
            <a:r>
              <a:rPr lang="en-US" sz="2800" i="1" dirty="0">
                <a:solidFill>
                  <a:srgbClr val="BA300F"/>
                </a:solidFill>
                <a:latin typeface="Cambria" pitchFamily="34" charset="0"/>
                <a:ea typeface="Cambria" pitchFamily="34" charset="-122"/>
                <a:cs typeface="Cambria" pitchFamily="34" charset="-120"/>
              </a:rPr>
              <a:t>Don't just watch lectures. Learn from them.</a:t>
            </a:r>
            <a:endParaRPr lang="en-US" sz="2800" dirty="0"/>
          </a:p>
        </p:txBody>
      </p:sp>
      <p:sp>
        <p:nvSpPr>
          <p:cNvPr id="7" name="Text 4"/>
          <p:cNvSpPr txBox="1"/>
          <p:nvPr/>
        </p:nvSpPr>
        <p:spPr>
          <a:xfrm>
            <a:off x="640080" y="4297680"/>
            <a:ext cx="6766560" cy="822960"/>
          </a:xfrm>
          <a:prstGeom prst="rect">
            <a:avLst/>
          </a:prstGeom>
          <a:noFill/>
          <a:ln/>
        </p:spPr>
        <p:txBody>
          <a:bodyPr wrap="square" lIns="0" tIns="0" rIns="0" bIns="0" rtlCol="0" anchor="t"/>
          <a:lstStyle/>
          <a:p>
            <a:pPr indent="0" marL="0">
              <a:buNone/>
            </a:pPr>
            <a:r>
              <a:rPr lang="en-US" sz="1600" dirty="0">
                <a:solidFill>
                  <a:srgbClr val="57534A"/>
                </a:solidFill>
                <a:latin typeface="Calibri" pitchFamily="34" charset="0"/>
                <a:ea typeface="Calibri" pitchFamily="34" charset="-122"/>
                <a:cs typeface="Calibri" pitchFamily="34" charset="-120"/>
              </a:rPr>
              <a:t>An AI tutor that pauses any YouTube lecture, asks you to explain it, and finds exactly where your understanding broke.</a:t>
            </a:r>
            <a:endParaRPr lang="en-US" sz="1600" dirty="0"/>
          </a:p>
        </p:txBody>
      </p:sp>
      <p:sp>
        <p:nvSpPr>
          <p:cNvPr id="8" name="Text 5"/>
          <p:cNvSpPr txBox="1"/>
          <p:nvPr/>
        </p:nvSpPr>
        <p:spPr>
          <a:xfrm>
            <a:off x="640080" y="5623560"/>
            <a:ext cx="6858000" cy="320040"/>
          </a:xfrm>
          <a:prstGeom prst="rect">
            <a:avLst/>
          </a:prstGeom>
          <a:noFill/>
          <a:ln/>
        </p:spPr>
        <p:txBody>
          <a:bodyPr wrap="square" lIns="0" tIns="0" rIns="0" bIns="0" rtlCol="0" anchor="ctr"/>
          <a:lstStyle/>
          <a:p>
            <a:pPr indent="0" marL="0">
              <a:buNone/>
            </a:pPr>
            <a:r>
              <a:rPr lang="en-US" sz="1300" b="1" dirty="0">
                <a:solidFill>
                  <a:srgbClr val="15130F"/>
                </a:solidFill>
                <a:latin typeface="Calibri" pitchFamily="34" charset="0"/>
                <a:ea typeface="Calibri" pitchFamily="34" charset="-122"/>
                <a:cs typeface="Calibri" pitchFamily="34" charset="-120"/>
              </a:rPr>
              <a:t>AI Hackathon Pakistan 2026  |  Education track</a:t>
            </a:r>
            <a:endParaRPr lang="en-US" sz="1300" dirty="0"/>
          </a:p>
        </p:txBody>
      </p:sp>
      <p:sp>
        <p:nvSpPr>
          <p:cNvPr id="9" name="Text 6"/>
          <p:cNvSpPr txBox="1"/>
          <p:nvPr/>
        </p:nvSpPr>
        <p:spPr>
          <a:xfrm>
            <a:off x="640080" y="5943600"/>
            <a:ext cx="8229600" cy="320040"/>
          </a:xfrm>
          <a:prstGeom prst="rect">
            <a:avLst/>
          </a:prstGeom>
          <a:noFill/>
          <a:ln/>
        </p:spPr>
        <p:txBody>
          <a:bodyPr wrap="square" lIns="0" tIns="0" rIns="0" bIns="0" rtlCol="0" anchor="ctr"/>
          <a:lstStyle/>
          <a:p>
            <a:pPr indent="0" marL="0">
              <a:buNone/>
            </a:pPr>
            <a:r>
              <a:rPr lang="en-US" sz="1200" dirty="0">
                <a:solidFill>
                  <a:srgbClr val="57534A"/>
                </a:solidFill>
                <a:latin typeface="Calibri" pitchFamily="34" charset="0"/>
                <a:ea typeface="Calibri" pitchFamily="34" charset="-122"/>
                <a:cs typeface="Calibri" pitchFamily="34" charset="-120"/>
              </a:rPr>
              <a:t>Muhammad Alyan (Team Lead)  |  Abdullah (Frontend)  |  Hassan Bin Gheas (Backend)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IMPACT</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2 / 11</a:t>
            </a:r>
            <a:endParaRPr lang="en-US" sz="1000" dirty="0"/>
          </a:p>
        </p:txBody>
      </p:sp>
      <p:sp>
        <p:nvSpPr>
          <p:cNvPr id="7" name="Text 4"/>
          <p:cNvSpPr txBox="1"/>
          <p:nvPr/>
        </p:nvSpPr>
        <p:spPr>
          <a:xfrm>
            <a:off x="640080" y="914400"/>
            <a:ext cx="10911535" cy="1280160"/>
          </a:xfrm>
          <a:prstGeom prst="rect">
            <a:avLst/>
          </a:prstGeom>
          <a:noFill/>
          <a:ln/>
        </p:spPr>
        <p:txBody>
          <a:bodyPr wrap="square" lIns="0" tIns="0" rIns="0" bIns="0" rtlCol="0" anchor="t"/>
          <a:lstStyle/>
          <a:p>
            <a:pPr indent="0" marL="0">
              <a:buNone/>
            </a:pPr>
            <a:r>
              <a:rPr lang="en-US" sz="3600" b="1" dirty="0">
                <a:solidFill>
                  <a:srgbClr val="15130F"/>
                </a:solidFill>
                <a:latin typeface="Cambria" pitchFamily="34" charset="0"/>
                <a:ea typeface="Cambria" pitchFamily="34" charset="-122"/>
                <a:cs typeface="Cambria" pitchFamily="34" charset="-120"/>
              </a:rPr>
              <a:t>Watching a lecture feels like learning.</a:t>
            </a:r>
            <a:endParaRPr lang="en-US" sz="3600" dirty="0"/>
          </a:p>
          <a:p>
            <a:pPr indent="0" marL="0">
              <a:buNone/>
            </a:pPr>
            <a:r>
              <a:rPr lang="en-US" sz="3600" b="1" dirty="0">
                <a:solidFill>
                  <a:srgbClr val="15130F"/>
                </a:solidFill>
                <a:latin typeface="Cambria" pitchFamily="34" charset="0"/>
                <a:ea typeface="Cambria" pitchFamily="34" charset="-122"/>
                <a:cs typeface="Cambria" pitchFamily="34" charset="-120"/>
              </a:rPr>
              <a:t>Most of the time, it isn't.</a:t>
            </a:r>
            <a:endParaRPr lang="en-US" sz="3600" dirty="0"/>
          </a:p>
        </p:txBody>
      </p:sp>
      <p:sp>
        <p:nvSpPr>
          <p:cNvPr id="8" name="Shape 5"/>
          <p:cNvSpPr/>
          <p:nvPr/>
        </p:nvSpPr>
        <p:spPr>
          <a:xfrm>
            <a:off x="640080" y="2651760"/>
            <a:ext cx="5318608" cy="3291840"/>
          </a:xfrm>
          <a:prstGeom prst="roundRect">
            <a:avLst>
              <a:gd name="adj" fmla="val 3333"/>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pic>
        <p:nvPicPr>
          <p:cNvPr id="9" name="Image 1" descr="Passive video">    </p:cNvPr>
          <p:cNvPicPr>
            <a:picLocks noChangeAspect="1"/>
          </p:cNvPicPr>
          <p:nvPr/>
        </p:nvPicPr>
        <p:blipFill>
          <a:blip r:embed="rId2"/>
          <a:stretch>
            <a:fillRect/>
          </a:stretch>
        </p:blipFill>
        <p:spPr>
          <a:xfrm>
            <a:off x="1005840" y="3017520"/>
            <a:ext cx="594360" cy="594360"/>
          </a:xfrm>
          <a:prstGeom prst="rect">
            <a:avLst/>
          </a:prstGeom>
        </p:spPr>
      </p:pic>
      <p:sp>
        <p:nvSpPr>
          <p:cNvPr id="10" name="Text 6"/>
          <p:cNvSpPr txBox="1"/>
          <p:nvPr/>
        </p:nvSpPr>
        <p:spPr>
          <a:xfrm>
            <a:off x="1828800" y="3017520"/>
            <a:ext cx="3855568" cy="594360"/>
          </a:xfrm>
          <a:prstGeom prst="rect">
            <a:avLst/>
          </a:prstGeom>
          <a:noFill/>
          <a:ln/>
        </p:spPr>
        <p:txBody>
          <a:bodyPr wrap="square" lIns="0" tIns="0" rIns="0" bIns="0" rtlCol="0" anchor="ctr"/>
          <a:lstStyle/>
          <a:p>
            <a:pPr indent="0" marL="0">
              <a:buNone/>
            </a:pPr>
            <a:r>
              <a:rPr lang="en-US" sz="2600" b="1" dirty="0">
                <a:solidFill>
                  <a:srgbClr val="15130F"/>
                </a:solidFill>
                <a:latin typeface="Cambria" pitchFamily="34" charset="0"/>
                <a:ea typeface="Cambria" pitchFamily="34" charset="-122"/>
                <a:cs typeface="Cambria" pitchFamily="34" charset="-120"/>
              </a:rPr>
              <a:t>Passive video</a:t>
            </a:r>
            <a:endParaRPr lang="en-US" sz="2600" dirty="0"/>
          </a:p>
        </p:txBody>
      </p:sp>
      <p:sp>
        <p:nvSpPr>
          <p:cNvPr id="11" name="Text 7"/>
          <p:cNvSpPr txBox="1"/>
          <p:nvPr/>
        </p:nvSpPr>
        <p:spPr>
          <a:xfrm>
            <a:off x="1005840" y="3886200"/>
            <a:ext cx="4587088" cy="1280160"/>
          </a:xfrm>
          <a:prstGeom prst="rect">
            <a:avLst/>
          </a:prstGeom>
          <a:noFill/>
          <a:ln/>
        </p:spPr>
        <p:txBody>
          <a:bodyPr wrap="square" lIns="0" tIns="0" rIns="0" bIns="0" rtlCol="0" anchor="t"/>
          <a:lstStyle/>
          <a:p>
            <a:pPr indent="0" marL="0">
              <a:buNone/>
            </a:pPr>
            <a:r>
              <a:rPr lang="en-US" sz="1900" dirty="0">
                <a:solidFill>
                  <a:srgbClr val="15130F"/>
                </a:solidFill>
                <a:latin typeface="Calibri" pitchFamily="34" charset="0"/>
                <a:ea typeface="Calibri" pitchFamily="34" charset="-122"/>
                <a:cs typeface="Calibri" pitchFamily="34" charset="-120"/>
              </a:rPr>
              <a:t>You nod along, the video ends, and you can't explain what you just watched. Nothing forces you to recall it.</a:t>
            </a:r>
            <a:endParaRPr lang="en-US" sz="1900" dirty="0"/>
          </a:p>
        </p:txBody>
      </p:sp>
      <p:sp>
        <p:nvSpPr>
          <p:cNvPr id="12" name="Text 8"/>
          <p:cNvSpPr txBox="1"/>
          <p:nvPr/>
        </p:nvSpPr>
        <p:spPr>
          <a:xfrm>
            <a:off x="1005840" y="5257800"/>
            <a:ext cx="4587088" cy="457200"/>
          </a:xfrm>
          <a:prstGeom prst="rect">
            <a:avLst/>
          </a:prstGeom>
          <a:noFill/>
          <a:ln/>
        </p:spPr>
        <p:txBody>
          <a:bodyPr wrap="square" lIns="0" tIns="0" rIns="0" bIns="0" rtlCol="0" anchor="ctr"/>
          <a:lstStyle/>
          <a:p>
            <a:pPr indent="0" marL="0">
              <a:buNone/>
            </a:pPr>
            <a:r>
              <a:rPr lang="en-US" sz="2000" b="1" i="1" dirty="0">
                <a:solidFill>
                  <a:srgbClr val="BA300F"/>
                </a:solidFill>
                <a:latin typeface="Cambria" pitchFamily="34" charset="0"/>
                <a:ea typeface="Cambria" pitchFamily="34" charset="-122"/>
                <a:cs typeface="Cambria" pitchFamily="34" charset="-120"/>
              </a:rPr>
              <a:t>Illusion of learning</a:t>
            </a:r>
            <a:endParaRPr lang="en-US" sz="2000" dirty="0"/>
          </a:p>
        </p:txBody>
      </p:sp>
      <p:sp>
        <p:nvSpPr>
          <p:cNvPr id="13" name="Shape 9"/>
          <p:cNvSpPr/>
          <p:nvPr/>
        </p:nvSpPr>
        <p:spPr>
          <a:xfrm>
            <a:off x="6233008" y="2651760"/>
            <a:ext cx="5318608" cy="3291840"/>
          </a:xfrm>
          <a:prstGeom prst="roundRect">
            <a:avLst>
              <a:gd name="adj" fmla="val 3333"/>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pic>
        <p:nvPicPr>
          <p:cNvPr id="14" name="Image 2" descr="Answer-giving AI">    </p:cNvPr>
          <p:cNvPicPr>
            <a:picLocks noChangeAspect="1"/>
          </p:cNvPicPr>
          <p:nvPr/>
        </p:nvPicPr>
        <p:blipFill>
          <a:blip r:embed="rId3"/>
          <a:stretch>
            <a:fillRect/>
          </a:stretch>
        </p:blipFill>
        <p:spPr>
          <a:xfrm>
            <a:off x="6598768" y="3017520"/>
            <a:ext cx="594360" cy="594360"/>
          </a:xfrm>
          <a:prstGeom prst="rect">
            <a:avLst/>
          </a:prstGeom>
        </p:spPr>
      </p:pic>
      <p:sp>
        <p:nvSpPr>
          <p:cNvPr id="15" name="Text 10"/>
          <p:cNvSpPr txBox="1"/>
          <p:nvPr/>
        </p:nvSpPr>
        <p:spPr>
          <a:xfrm>
            <a:off x="7421728" y="3017520"/>
            <a:ext cx="3855568" cy="594360"/>
          </a:xfrm>
          <a:prstGeom prst="rect">
            <a:avLst/>
          </a:prstGeom>
          <a:noFill/>
          <a:ln/>
        </p:spPr>
        <p:txBody>
          <a:bodyPr wrap="square" lIns="0" tIns="0" rIns="0" bIns="0" rtlCol="0" anchor="ctr"/>
          <a:lstStyle/>
          <a:p>
            <a:pPr indent="0" marL="0">
              <a:buNone/>
            </a:pPr>
            <a:r>
              <a:rPr lang="en-US" sz="2600" b="1" dirty="0">
                <a:solidFill>
                  <a:srgbClr val="15130F"/>
                </a:solidFill>
                <a:latin typeface="Cambria" pitchFamily="34" charset="0"/>
                <a:ea typeface="Cambria" pitchFamily="34" charset="-122"/>
                <a:cs typeface="Cambria" pitchFamily="34" charset="-120"/>
              </a:rPr>
              <a:t>Answer-giving AI</a:t>
            </a:r>
            <a:endParaRPr lang="en-US" sz="2600" dirty="0"/>
          </a:p>
        </p:txBody>
      </p:sp>
      <p:sp>
        <p:nvSpPr>
          <p:cNvPr id="16" name="Text 11"/>
          <p:cNvSpPr txBox="1"/>
          <p:nvPr/>
        </p:nvSpPr>
        <p:spPr>
          <a:xfrm>
            <a:off x="6598768" y="3886200"/>
            <a:ext cx="4587088" cy="1280160"/>
          </a:xfrm>
          <a:prstGeom prst="rect">
            <a:avLst/>
          </a:prstGeom>
          <a:noFill/>
          <a:ln/>
        </p:spPr>
        <p:txBody>
          <a:bodyPr wrap="square" lIns="0" tIns="0" rIns="0" bIns="0" rtlCol="0" anchor="t"/>
          <a:lstStyle/>
          <a:p>
            <a:pPr indent="0" marL="0">
              <a:buNone/>
            </a:pPr>
            <a:r>
              <a:rPr lang="en-US" sz="1900" dirty="0">
                <a:solidFill>
                  <a:srgbClr val="15130F"/>
                </a:solidFill>
                <a:latin typeface="Calibri" pitchFamily="34" charset="0"/>
                <a:ea typeface="Calibri" pitchFamily="34" charset="-122"/>
                <a:cs typeface="Calibri" pitchFamily="34" charset="-120"/>
              </a:rPr>
              <a:t>Ask, get the answer, move on. The tool does the thinking, and the learner grows more dependent with every use.</a:t>
            </a:r>
            <a:endParaRPr lang="en-US" sz="1900" dirty="0"/>
          </a:p>
        </p:txBody>
      </p:sp>
      <p:sp>
        <p:nvSpPr>
          <p:cNvPr id="17" name="Text 12"/>
          <p:cNvSpPr txBox="1"/>
          <p:nvPr/>
        </p:nvSpPr>
        <p:spPr>
          <a:xfrm>
            <a:off x="6598768" y="5257800"/>
            <a:ext cx="4587088" cy="457200"/>
          </a:xfrm>
          <a:prstGeom prst="rect">
            <a:avLst/>
          </a:prstGeom>
          <a:noFill/>
          <a:ln/>
        </p:spPr>
        <p:txBody>
          <a:bodyPr wrap="square" lIns="0" tIns="0" rIns="0" bIns="0" rtlCol="0" anchor="ctr"/>
          <a:lstStyle/>
          <a:p>
            <a:pPr indent="0" marL="0">
              <a:buNone/>
            </a:pPr>
            <a:r>
              <a:rPr lang="en-US" sz="2000" b="1" i="1" dirty="0">
                <a:solidFill>
                  <a:srgbClr val="BA300F"/>
                </a:solidFill>
                <a:latin typeface="Cambria" pitchFamily="34" charset="0"/>
                <a:ea typeface="Cambria" pitchFamily="34" charset="-122"/>
                <a:cs typeface="Cambria" pitchFamily="34" charset="-120"/>
              </a:rPr>
              <a:t>Outsourced thinking</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IMPACT</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3 / 11</a:t>
            </a:r>
            <a:endParaRPr lang="en-US" sz="1000" dirty="0"/>
          </a:p>
        </p:txBody>
      </p:sp>
      <p:sp>
        <p:nvSpPr>
          <p:cNvPr id="7" name="Text 4"/>
          <p:cNvSpPr txBox="1"/>
          <p:nvPr/>
        </p:nvSpPr>
        <p:spPr>
          <a:xfrm>
            <a:off x="640080" y="914400"/>
            <a:ext cx="10911535" cy="1280160"/>
          </a:xfrm>
          <a:prstGeom prst="rect">
            <a:avLst/>
          </a:prstGeom>
          <a:noFill/>
          <a:ln/>
        </p:spPr>
        <p:txBody>
          <a:bodyPr wrap="square" lIns="0" tIns="0" rIns="0" bIns="0" rtlCol="0" anchor="t"/>
          <a:lstStyle/>
          <a:p>
            <a:pPr indent="0" marL="0">
              <a:buNone/>
            </a:pPr>
            <a:r>
              <a:rPr lang="en-US" sz="3600" b="1" dirty="0">
                <a:solidFill>
                  <a:srgbClr val="15130F"/>
                </a:solidFill>
                <a:latin typeface="Cambria" pitchFamily="34" charset="0"/>
                <a:ea typeface="Cambria" pitchFamily="34" charset="-122"/>
                <a:cs typeface="Cambria" pitchFamily="34" charset="-120"/>
              </a:rPr>
              <a:t>Our idea: the AI asks.</a:t>
            </a:r>
            <a:endParaRPr lang="en-US" sz="3600" dirty="0"/>
          </a:p>
          <a:p>
            <a:pPr indent="0" marL="0">
              <a:buNone/>
            </a:pPr>
            <a:r>
              <a:rPr lang="en-US" sz="3600" b="1" dirty="0">
                <a:solidFill>
                  <a:srgbClr val="15130F"/>
                </a:solidFill>
                <a:latin typeface="Cambria" pitchFamily="34" charset="0"/>
                <a:ea typeface="Cambria" pitchFamily="34" charset="-122"/>
                <a:cs typeface="Cambria" pitchFamily="34" charset="-120"/>
              </a:rPr>
              <a:t>The learner answers.</a:t>
            </a:r>
            <a:endParaRPr lang="en-US" sz="3600" dirty="0"/>
          </a:p>
        </p:txBody>
      </p:sp>
      <p:sp>
        <p:nvSpPr>
          <p:cNvPr id="8" name="Shape 5"/>
          <p:cNvSpPr/>
          <p:nvPr/>
        </p:nvSpPr>
        <p:spPr>
          <a:xfrm>
            <a:off x="640080" y="2651760"/>
            <a:ext cx="5135728" cy="3383280"/>
          </a:xfrm>
          <a:prstGeom prst="roundRect">
            <a:avLst>
              <a:gd name="adj" fmla="val 3243"/>
            </a:avLst>
          </a:prstGeom>
          <a:solidFill>
            <a:srgbClr val="F0EEEB"/>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9" name="Text 6"/>
          <p:cNvSpPr txBox="1"/>
          <p:nvPr/>
        </p:nvSpPr>
        <p:spPr>
          <a:xfrm>
            <a:off x="1005840" y="2926080"/>
            <a:ext cx="4404208" cy="457200"/>
          </a:xfrm>
          <a:prstGeom prst="rect">
            <a:avLst/>
          </a:prstGeom>
          <a:noFill/>
          <a:ln/>
        </p:spPr>
        <p:txBody>
          <a:bodyPr wrap="square" lIns="0" tIns="0" rIns="0" bIns="0" rtlCol="0" anchor="ctr"/>
          <a:lstStyle/>
          <a:p>
            <a:pPr indent="0" marL="0">
              <a:buNone/>
            </a:pPr>
            <a:r>
              <a:rPr lang="en-US" sz="2400" b="1" dirty="0">
                <a:solidFill>
                  <a:srgbClr val="15130F"/>
                </a:solidFill>
                <a:latin typeface="Cambria" pitchFamily="34" charset="0"/>
                <a:ea typeface="Cambria" pitchFamily="34" charset="-122"/>
                <a:cs typeface="Cambria" pitchFamily="34" charset="-120"/>
              </a:rPr>
              <a:t>Typical AI study tool</a:t>
            </a:r>
            <a:endParaRPr lang="en-US" sz="2400" dirty="0"/>
          </a:p>
        </p:txBody>
      </p:sp>
      <p:sp>
        <p:nvSpPr>
          <p:cNvPr id="10" name="Shape 7"/>
          <p:cNvSpPr/>
          <p:nvPr/>
        </p:nvSpPr>
        <p:spPr>
          <a:xfrm>
            <a:off x="1005840" y="3703320"/>
            <a:ext cx="4404208" cy="566928"/>
          </a:xfrm>
          <a:prstGeom prst="roundRect">
            <a:avLst>
              <a:gd name="adj" fmla="val 16129"/>
            </a:avLst>
          </a:prstGeom>
          <a:solidFill>
            <a:srgbClr val="FFFFFF"/>
          </a:solidFill>
          <a:ln w="12700">
            <a:solidFill>
              <a:srgbClr val="E5E2DD"/>
            </a:solidFill>
            <a:prstDash val="solid"/>
          </a:ln>
        </p:spPr>
      </p:sp>
      <p:sp>
        <p:nvSpPr>
          <p:cNvPr id="11" name="Text 8"/>
          <p:cNvSpPr txBox="1"/>
          <p:nvPr/>
        </p:nvSpPr>
        <p:spPr>
          <a:xfrm>
            <a:off x="1188720" y="3703320"/>
            <a:ext cx="4038448" cy="566928"/>
          </a:xfrm>
          <a:prstGeom prst="rect">
            <a:avLst/>
          </a:prstGeom>
          <a:noFill/>
          <a:ln/>
        </p:spPr>
        <p:txBody>
          <a:bodyPr wrap="square" lIns="0" tIns="0" rIns="0" bIns="0" rtlCol="0" anchor="ctr"/>
          <a:lstStyle/>
          <a:p>
            <a:pPr indent="0" marL="0">
              <a:buNone/>
            </a:pPr>
            <a:r>
              <a:rPr lang="en-US" sz="1900" dirty="0">
                <a:solidFill>
                  <a:srgbClr val="57534A"/>
                </a:solidFill>
                <a:latin typeface="Calibri" pitchFamily="34" charset="0"/>
                <a:ea typeface="Calibri" pitchFamily="34" charset="-122"/>
                <a:cs typeface="Calibri" pitchFamily="34" charset="-120"/>
              </a:rPr>
              <a:t>Ask</a:t>
            </a:r>
            <a:endParaRPr lang="en-US" sz="1900" dirty="0"/>
          </a:p>
        </p:txBody>
      </p:sp>
      <p:sp>
        <p:nvSpPr>
          <p:cNvPr id="12" name="Shape 9"/>
          <p:cNvSpPr/>
          <p:nvPr/>
        </p:nvSpPr>
        <p:spPr>
          <a:xfrm>
            <a:off x="1005840" y="4434840"/>
            <a:ext cx="4404208" cy="566928"/>
          </a:xfrm>
          <a:prstGeom prst="roundRect">
            <a:avLst>
              <a:gd name="adj" fmla="val 16129"/>
            </a:avLst>
          </a:prstGeom>
          <a:solidFill>
            <a:srgbClr val="FFFFFF"/>
          </a:solidFill>
          <a:ln w="12700">
            <a:solidFill>
              <a:srgbClr val="E5E2DD"/>
            </a:solidFill>
            <a:prstDash val="solid"/>
          </a:ln>
        </p:spPr>
      </p:sp>
      <p:sp>
        <p:nvSpPr>
          <p:cNvPr id="13" name="Text 10"/>
          <p:cNvSpPr txBox="1"/>
          <p:nvPr/>
        </p:nvSpPr>
        <p:spPr>
          <a:xfrm>
            <a:off x="1188720" y="4434840"/>
            <a:ext cx="4038448" cy="566928"/>
          </a:xfrm>
          <a:prstGeom prst="rect">
            <a:avLst/>
          </a:prstGeom>
          <a:noFill/>
          <a:ln/>
        </p:spPr>
        <p:txBody>
          <a:bodyPr wrap="square" lIns="0" tIns="0" rIns="0" bIns="0" rtlCol="0" anchor="ctr"/>
          <a:lstStyle/>
          <a:p>
            <a:pPr indent="0" marL="0">
              <a:buNone/>
            </a:pPr>
            <a:r>
              <a:rPr lang="en-US" sz="1900" dirty="0">
                <a:solidFill>
                  <a:srgbClr val="57534A"/>
                </a:solidFill>
                <a:latin typeface="Calibri" pitchFamily="34" charset="0"/>
                <a:ea typeface="Calibri" pitchFamily="34" charset="-122"/>
                <a:cs typeface="Calibri" pitchFamily="34" charset="-120"/>
              </a:rPr>
              <a:t>Get the answer</a:t>
            </a:r>
            <a:endParaRPr lang="en-US" sz="1900" dirty="0"/>
          </a:p>
        </p:txBody>
      </p:sp>
      <p:sp>
        <p:nvSpPr>
          <p:cNvPr id="14" name="Shape 11"/>
          <p:cNvSpPr/>
          <p:nvPr/>
        </p:nvSpPr>
        <p:spPr>
          <a:xfrm>
            <a:off x="1005840" y="5166360"/>
            <a:ext cx="4404208" cy="566928"/>
          </a:xfrm>
          <a:prstGeom prst="roundRect">
            <a:avLst>
              <a:gd name="adj" fmla="val 16129"/>
            </a:avLst>
          </a:prstGeom>
          <a:solidFill>
            <a:srgbClr val="FFFFFF"/>
          </a:solidFill>
          <a:ln w="12700">
            <a:solidFill>
              <a:srgbClr val="E5E2DD"/>
            </a:solidFill>
            <a:prstDash val="solid"/>
          </a:ln>
        </p:spPr>
      </p:sp>
      <p:sp>
        <p:nvSpPr>
          <p:cNvPr id="15" name="Text 12"/>
          <p:cNvSpPr txBox="1"/>
          <p:nvPr/>
        </p:nvSpPr>
        <p:spPr>
          <a:xfrm>
            <a:off x="1188720" y="5166360"/>
            <a:ext cx="4038448" cy="566928"/>
          </a:xfrm>
          <a:prstGeom prst="rect">
            <a:avLst/>
          </a:prstGeom>
          <a:noFill/>
          <a:ln/>
        </p:spPr>
        <p:txBody>
          <a:bodyPr wrap="square" lIns="0" tIns="0" rIns="0" bIns="0" rtlCol="0" anchor="ctr"/>
          <a:lstStyle/>
          <a:p>
            <a:pPr indent="0" marL="0">
              <a:buNone/>
            </a:pPr>
            <a:r>
              <a:rPr lang="en-US" sz="1900" dirty="0">
                <a:solidFill>
                  <a:srgbClr val="57534A"/>
                </a:solidFill>
                <a:latin typeface="Calibri" pitchFamily="34" charset="0"/>
                <a:ea typeface="Calibri" pitchFamily="34" charset="-122"/>
                <a:cs typeface="Calibri" pitchFamily="34" charset="-120"/>
              </a:rPr>
              <a:t>Forget it</a:t>
            </a:r>
            <a:endParaRPr lang="en-US" sz="1900" dirty="0"/>
          </a:p>
        </p:txBody>
      </p:sp>
      <p:sp>
        <p:nvSpPr>
          <p:cNvPr id="16" name="Shape 13"/>
          <p:cNvSpPr/>
          <p:nvPr/>
        </p:nvSpPr>
        <p:spPr>
          <a:xfrm>
            <a:off x="6415888" y="2651760"/>
            <a:ext cx="5135728" cy="3383280"/>
          </a:xfrm>
          <a:prstGeom prst="roundRect">
            <a:avLst>
              <a:gd name="adj" fmla="val 3243"/>
            </a:avLst>
          </a:prstGeom>
          <a:solidFill>
            <a:srgbClr val="FFF1EA"/>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17" name="Text 14"/>
          <p:cNvSpPr txBox="1"/>
          <p:nvPr/>
        </p:nvSpPr>
        <p:spPr>
          <a:xfrm>
            <a:off x="6781648" y="2926080"/>
            <a:ext cx="4404208" cy="457200"/>
          </a:xfrm>
          <a:prstGeom prst="rect">
            <a:avLst/>
          </a:prstGeom>
          <a:noFill/>
          <a:ln/>
        </p:spPr>
        <p:txBody>
          <a:bodyPr wrap="square" lIns="0" tIns="0" rIns="0" bIns="0" rtlCol="0" anchor="ctr"/>
          <a:lstStyle/>
          <a:p>
            <a:pPr indent="0" marL="0">
              <a:buNone/>
            </a:pPr>
            <a:r>
              <a:rPr lang="en-US" sz="2400" b="1" dirty="0">
                <a:solidFill>
                  <a:srgbClr val="BA300F"/>
                </a:solidFill>
                <a:latin typeface="Cambria" pitchFamily="34" charset="0"/>
                <a:ea typeface="Cambria" pitchFamily="34" charset="-122"/>
                <a:cs typeface="Cambria" pitchFamily="34" charset="-120"/>
              </a:rPr>
              <a:t>Studify AI</a:t>
            </a:r>
            <a:endParaRPr lang="en-US" sz="2400" dirty="0"/>
          </a:p>
        </p:txBody>
      </p:sp>
      <p:sp>
        <p:nvSpPr>
          <p:cNvPr id="18" name="Shape 15"/>
          <p:cNvSpPr/>
          <p:nvPr/>
        </p:nvSpPr>
        <p:spPr>
          <a:xfrm>
            <a:off x="6781648" y="3703320"/>
            <a:ext cx="4404208" cy="566928"/>
          </a:xfrm>
          <a:prstGeom prst="roundRect">
            <a:avLst>
              <a:gd name="adj" fmla="val 16129"/>
            </a:avLst>
          </a:prstGeom>
          <a:solidFill>
            <a:srgbClr val="FFFFFF"/>
          </a:solidFill>
          <a:ln w="19050">
            <a:solidFill>
              <a:srgbClr val="FF4D1F"/>
            </a:solidFill>
            <a:prstDash val="solid"/>
          </a:ln>
        </p:spPr>
      </p:sp>
      <p:sp>
        <p:nvSpPr>
          <p:cNvPr id="19" name="Text 16"/>
          <p:cNvSpPr txBox="1"/>
          <p:nvPr/>
        </p:nvSpPr>
        <p:spPr>
          <a:xfrm>
            <a:off x="6964528" y="3703320"/>
            <a:ext cx="4038448" cy="566928"/>
          </a:xfrm>
          <a:prstGeom prst="rect">
            <a:avLst/>
          </a:prstGeom>
          <a:noFill/>
          <a:ln/>
        </p:spPr>
        <p:txBody>
          <a:bodyPr wrap="square" lIns="0" tIns="0" rIns="0" bIns="0" rtlCol="0" anchor="ctr"/>
          <a:lstStyle/>
          <a:p>
            <a:pPr indent="0" marL="0">
              <a:buNone/>
            </a:pPr>
            <a:r>
              <a:rPr lang="en-US" sz="1900" b="1" dirty="0">
                <a:solidFill>
                  <a:srgbClr val="15130F"/>
                </a:solidFill>
                <a:latin typeface="Calibri" pitchFamily="34" charset="0"/>
                <a:ea typeface="Calibri" pitchFamily="34" charset="-122"/>
                <a:cs typeface="Calibri" pitchFamily="34" charset="-120"/>
              </a:rPr>
              <a:t>Pause at a key idea</a:t>
            </a:r>
            <a:endParaRPr lang="en-US" sz="1900" dirty="0"/>
          </a:p>
        </p:txBody>
      </p:sp>
      <p:sp>
        <p:nvSpPr>
          <p:cNvPr id="20" name="Shape 17"/>
          <p:cNvSpPr/>
          <p:nvPr/>
        </p:nvSpPr>
        <p:spPr>
          <a:xfrm>
            <a:off x="6781648" y="4434840"/>
            <a:ext cx="4404208" cy="566928"/>
          </a:xfrm>
          <a:prstGeom prst="roundRect">
            <a:avLst>
              <a:gd name="adj" fmla="val 16129"/>
            </a:avLst>
          </a:prstGeom>
          <a:solidFill>
            <a:srgbClr val="FFFFFF"/>
          </a:solidFill>
          <a:ln w="19050">
            <a:solidFill>
              <a:srgbClr val="FF4D1F"/>
            </a:solidFill>
            <a:prstDash val="solid"/>
          </a:ln>
        </p:spPr>
      </p:sp>
      <p:sp>
        <p:nvSpPr>
          <p:cNvPr id="21" name="Text 18"/>
          <p:cNvSpPr txBox="1"/>
          <p:nvPr/>
        </p:nvSpPr>
        <p:spPr>
          <a:xfrm>
            <a:off x="6964528" y="4434840"/>
            <a:ext cx="4038448" cy="566928"/>
          </a:xfrm>
          <a:prstGeom prst="rect">
            <a:avLst/>
          </a:prstGeom>
          <a:noFill/>
          <a:ln/>
        </p:spPr>
        <p:txBody>
          <a:bodyPr wrap="square" lIns="0" tIns="0" rIns="0" bIns="0" rtlCol="0" anchor="ctr"/>
          <a:lstStyle/>
          <a:p>
            <a:pPr indent="0" marL="0">
              <a:buNone/>
            </a:pPr>
            <a:r>
              <a:rPr lang="en-US" sz="1900" b="1" dirty="0">
                <a:solidFill>
                  <a:srgbClr val="15130F"/>
                </a:solidFill>
                <a:latin typeface="Calibri" pitchFamily="34" charset="0"/>
                <a:ea typeface="Calibri" pitchFamily="34" charset="-122"/>
                <a:cs typeface="Calibri" pitchFamily="34" charset="-120"/>
              </a:rPr>
              <a:t>Explain it in your words</a:t>
            </a:r>
            <a:endParaRPr lang="en-US" sz="1900" dirty="0"/>
          </a:p>
        </p:txBody>
      </p:sp>
      <p:sp>
        <p:nvSpPr>
          <p:cNvPr id="22" name="Shape 19"/>
          <p:cNvSpPr/>
          <p:nvPr/>
        </p:nvSpPr>
        <p:spPr>
          <a:xfrm>
            <a:off x="6781648" y="5166360"/>
            <a:ext cx="4404208" cy="566928"/>
          </a:xfrm>
          <a:prstGeom prst="roundRect">
            <a:avLst>
              <a:gd name="adj" fmla="val 16129"/>
            </a:avLst>
          </a:prstGeom>
          <a:solidFill>
            <a:srgbClr val="FFFFFF"/>
          </a:solidFill>
          <a:ln w="19050">
            <a:solidFill>
              <a:srgbClr val="FF4D1F"/>
            </a:solidFill>
            <a:prstDash val="solid"/>
          </a:ln>
        </p:spPr>
      </p:sp>
      <p:sp>
        <p:nvSpPr>
          <p:cNvPr id="23" name="Text 20"/>
          <p:cNvSpPr txBox="1"/>
          <p:nvPr/>
        </p:nvSpPr>
        <p:spPr>
          <a:xfrm>
            <a:off x="6964528" y="5166360"/>
            <a:ext cx="4038448" cy="566928"/>
          </a:xfrm>
          <a:prstGeom prst="rect">
            <a:avLst/>
          </a:prstGeom>
          <a:noFill/>
          <a:ln/>
        </p:spPr>
        <p:txBody>
          <a:bodyPr wrap="square" lIns="0" tIns="0" rIns="0" bIns="0" rtlCol="0" anchor="ctr"/>
          <a:lstStyle/>
          <a:p>
            <a:pPr indent="0" marL="0">
              <a:buNone/>
            </a:pPr>
            <a:r>
              <a:rPr lang="en-US" sz="1900" b="1" dirty="0">
                <a:solidFill>
                  <a:srgbClr val="15130F"/>
                </a:solidFill>
                <a:latin typeface="Calibri" pitchFamily="34" charset="0"/>
                <a:ea typeface="Calibri" pitchFamily="34" charset="-122"/>
                <a:cs typeface="Calibri" pitchFamily="34" charset="-120"/>
              </a:rPr>
              <a:t>Get diagnosed, try again</a:t>
            </a:r>
            <a:endParaRPr lang="en-US" sz="1900" dirty="0"/>
          </a:p>
        </p:txBody>
      </p:sp>
      <p:sp>
        <p:nvSpPr>
          <p:cNvPr id="24" name="Text 21"/>
          <p:cNvSpPr txBox="1"/>
          <p:nvPr/>
        </p:nvSpPr>
        <p:spPr>
          <a:xfrm>
            <a:off x="5775808" y="4114800"/>
            <a:ext cx="640080" cy="548640"/>
          </a:xfrm>
          <a:prstGeom prst="rect">
            <a:avLst/>
          </a:prstGeom>
          <a:noFill/>
          <a:ln/>
        </p:spPr>
        <p:txBody>
          <a:bodyPr wrap="square" lIns="0" tIns="0" rIns="0" bIns="0" rtlCol="0" anchor="ctr"/>
          <a:lstStyle/>
          <a:p>
            <a:pPr algn="ctr" indent="0" marL="0">
              <a:buNone/>
            </a:pPr>
            <a:r>
              <a:rPr lang="en-US" sz="2400" i="1" dirty="0">
                <a:solidFill>
                  <a:srgbClr val="15130F"/>
                </a:solidFill>
                <a:latin typeface="Cambria" pitchFamily="34" charset="0"/>
                <a:ea typeface="Cambria" pitchFamily="34" charset="-122"/>
                <a:cs typeface="Cambria" pitchFamily="34" charset="-120"/>
              </a:rPr>
              <a:t>vs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CREATIVE AI</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4 / 11</a:t>
            </a:r>
            <a:endParaRPr lang="en-US" sz="1000" dirty="0"/>
          </a:p>
        </p:txBody>
      </p:sp>
      <p:sp>
        <p:nvSpPr>
          <p:cNvPr id="7" name="Text 4"/>
          <p:cNvSpPr txBox="1"/>
          <p:nvPr/>
        </p:nvSpPr>
        <p:spPr>
          <a:xfrm>
            <a:off x="640080" y="914400"/>
            <a:ext cx="10911535" cy="731520"/>
          </a:xfrm>
          <a:prstGeom prst="rect">
            <a:avLst/>
          </a:prstGeom>
          <a:noFill/>
          <a:ln/>
        </p:spPr>
        <p:txBody>
          <a:bodyPr wrap="square" lIns="0" tIns="0" rIns="0" bIns="0" rtlCol="0" anchor="t"/>
          <a:lstStyle/>
          <a:p>
            <a:pPr indent="0" marL="0">
              <a:buNone/>
            </a:pPr>
            <a:r>
              <a:rPr lang="en-US" sz="3200" b="1" dirty="0">
                <a:solidFill>
                  <a:srgbClr val="15130F"/>
                </a:solidFill>
                <a:latin typeface="Cambria" pitchFamily="34" charset="0"/>
                <a:ea typeface="Cambria" pitchFamily="34" charset="-122"/>
                <a:cs typeface="Cambria" pitchFamily="34" charset="-120"/>
              </a:rPr>
              <a:t>Any YouTube lecture becomes a Socratic session</a:t>
            </a:r>
            <a:endParaRPr lang="en-US" sz="3200" dirty="0"/>
          </a:p>
        </p:txBody>
      </p:sp>
      <p:sp>
        <p:nvSpPr>
          <p:cNvPr id="8" name="Shape 5"/>
          <p:cNvSpPr/>
          <p:nvPr/>
        </p:nvSpPr>
        <p:spPr>
          <a:xfrm>
            <a:off x="640080" y="1783080"/>
            <a:ext cx="4663440" cy="1024128"/>
          </a:xfrm>
          <a:prstGeom prst="roundRect">
            <a:avLst>
              <a:gd name="adj" fmla="val 10714"/>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9" name="Shape 6"/>
          <p:cNvSpPr/>
          <p:nvPr/>
        </p:nvSpPr>
        <p:spPr>
          <a:xfrm>
            <a:off x="822960" y="2057400"/>
            <a:ext cx="475488" cy="475488"/>
          </a:xfrm>
          <a:prstGeom prst="ellipse">
            <a:avLst/>
          </a:prstGeom>
          <a:solidFill>
            <a:srgbClr val="FF4D1F"/>
          </a:solidFill>
          <a:ln w="12700">
            <a:solidFill>
              <a:srgbClr val="FF4D1F"/>
            </a:solidFill>
            <a:prstDash val="solid"/>
          </a:ln>
        </p:spPr>
      </p:sp>
      <p:sp>
        <p:nvSpPr>
          <p:cNvPr id="10" name="Text 7"/>
          <p:cNvSpPr txBox="1"/>
          <p:nvPr/>
        </p:nvSpPr>
        <p:spPr>
          <a:xfrm>
            <a:off x="822960" y="205740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1" name="Text 8"/>
          <p:cNvSpPr txBox="1"/>
          <p:nvPr/>
        </p:nvSpPr>
        <p:spPr>
          <a:xfrm>
            <a:off x="1508760" y="1783080"/>
            <a:ext cx="3657600" cy="1024128"/>
          </a:xfrm>
          <a:prstGeom prst="rect">
            <a:avLst/>
          </a:prstGeom>
          <a:noFill/>
          <a:ln/>
        </p:spPr>
        <p:txBody>
          <a:bodyPr wrap="square" lIns="0" tIns="0" rIns="0" bIns="0" rtlCol="0" anchor="ctr"/>
          <a:lstStyle/>
          <a:p>
            <a:pPr indent="0" marL="0">
              <a:buNone/>
            </a:pPr>
            <a:r>
              <a:rPr lang="en-US" sz="2000" b="1" dirty="0">
                <a:solidFill>
                  <a:srgbClr val="15130F"/>
                </a:solidFill>
                <a:latin typeface="Cambria" pitchFamily="34" charset="0"/>
                <a:ea typeface="Cambria" pitchFamily="34" charset="-122"/>
                <a:cs typeface="Cambria" pitchFamily="34" charset="-120"/>
              </a:rPr>
              <a:t>Pause</a:t>
            </a:r>
            <a:endParaRPr lang="en-US" sz="2000" dirty="0"/>
          </a:p>
          <a:p>
            <a:pPr indent="0" marL="0">
              <a:buNone/>
            </a:pPr>
            <a:r>
              <a:rPr lang="en-US" sz="1400" dirty="0">
                <a:solidFill>
                  <a:srgbClr val="57534A"/>
                </a:solidFill>
                <a:latin typeface="Calibri" pitchFamily="34" charset="0"/>
                <a:ea typeface="Calibri" pitchFamily="34" charset="-122"/>
                <a:cs typeface="Calibri" pitchFamily="34" charset="-120"/>
              </a:rPr>
              <a:t>The player stops at each chapter end and locks skipping.</a:t>
            </a:r>
            <a:endParaRPr lang="en-US" sz="2000" dirty="0"/>
          </a:p>
        </p:txBody>
      </p:sp>
      <p:sp>
        <p:nvSpPr>
          <p:cNvPr id="12" name="Shape 9"/>
          <p:cNvSpPr/>
          <p:nvPr/>
        </p:nvSpPr>
        <p:spPr>
          <a:xfrm>
            <a:off x="640080" y="2935224"/>
            <a:ext cx="4663440" cy="1024128"/>
          </a:xfrm>
          <a:prstGeom prst="roundRect">
            <a:avLst>
              <a:gd name="adj" fmla="val 10714"/>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13" name="Shape 10"/>
          <p:cNvSpPr/>
          <p:nvPr/>
        </p:nvSpPr>
        <p:spPr>
          <a:xfrm>
            <a:off x="822960" y="3209544"/>
            <a:ext cx="475488" cy="475488"/>
          </a:xfrm>
          <a:prstGeom prst="ellipse">
            <a:avLst/>
          </a:prstGeom>
          <a:solidFill>
            <a:srgbClr val="FF4D1F"/>
          </a:solidFill>
          <a:ln w="12700">
            <a:solidFill>
              <a:srgbClr val="FF4D1F"/>
            </a:solidFill>
            <a:prstDash val="solid"/>
          </a:ln>
        </p:spPr>
      </p:sp>
      <p:sp>
        <p:nvSpPr>
          <p:cNvPr id="14" name="Text 11"/>
          <p:cNvSpPr txBox="1"/>
          <p:nvPr/>
        </p:nvSpPr>
        <p:spPr>
          <a:xfrm>
            <a:off x="822960" y="320954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2"/>
          <p:cNvSpPr txBox="1"/>
          <p:nvPr/>
        </p:nvSpPr>
        <p:spPr>
          <a:xfrm>
            <a:off x="1508760" y="2935224"/>
            <a:ext cx="3657600" cy="1024128"/>
          </a:xfrm>
          <a:prstGeom prst="rect">
            <a:avLst/>
          </a:prstGeom>
          <a:noFill/>
          <a:ln/>
        </p:spPr>
        <p:txBody>
          <a:bodyPr wrap="square" lIns="0" tIns="0" rIns="0" bIns="0" rtlCol="0" anchor="ctr"/>
          <a:lstStyle/>
          <a:p>
            <a:pPr indent="0" marL="0">
              <a:buNone/>
            </a:pPr>
            <a:r>
              <a:rPr lang="en-US" sz="2000" b="1" dirty="0">
                <a:solidFill>
                  <a:srgbClr val="15130F"/>
                </a:solidFill>
                <a:latin typeface="Cambria" pitchFamily="34" charset="0"/>
                <a:ea typeface="Cambria" pitchFamily="34" charset="-122"/>
                <a:cs typeface="Cambria" pitchFamily="34" charset="-120"/>
              </a:rPr>
              <a:t>Ask</a:t>
            </a:r>
            <a:endParaRPr lang="en-US" sz="2000" dirty="0"/>
          </a:p>
          <a:p>
            <a:pPr indent="0" marL="0">
              <a:buNone/>
            </a:pPr>
            <a:r>
              <a:rPr lang="en-US" sz="1400" dirty="0">
                <a:solidFill>
                  <a:srgbClr val="57534A"/>
                </a:solidFill>
                <a:latin typeface="Calibri" pitchFamily="34" charset="0"/>
                <a:ea typeface="Calibri" pitchFamily="34" charset="-122"/>
                <a:cs typeface="Calibri" pitchFamily="34" charset="-120"/>
              </a:rPr>
              <a:t>AI writes recall questions from what the lecture said.</a:t>
            </a:r>
            <a:endParaRPr lang="en-US" sz="2000" dirty="0"/>
          </a:p>
        </p:txBody>
      </p:sp>
      <p:sp>
        <p:nvSpPr>
          <p:cNvPr id="16" name="Shape 13"/>
          <p:cNvSpPr/>
          <p:nvPr/>
        </p:nvSpPr>
        <p:spPr>
          <a:xfrm>
            <a:off x="640080" y="4087368"/>
            <a:ext cx="4663440" cy="1024128"/>
          </a:xfrm>
          <a:prstGeom prst="roundRect">
            <a:avLst>
              <a:gd name="adj" fmla="val 10714"/>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17" name="Shape 14"/>
          <p:cNvSpPr/>
          <p:nvPr/>
        </p:nvSpPr>
        <p:spPr>
          <a:xfrm>
            <a:off x="822960" y="4361688"/>
            <a:ext cx="475488" cy="475488"/>
          </a:xfrm>
          <a:prstGeom prst="ellipse">
            <a:avLst/>
          </a:prstGeom>
          <a:solidFill>
            <a:srgbClr val="FF4D1F"/>
          </a:solidFill>
          <a:ln w="12700">
            <a:solidFill>
              <a:srgbClr val="FF4D1F"/>
            </a:solidFill>
            <a:prstDash val="solid"/>
          </a:ln>
        </p:spPr>
      </p:sp>
      <p:sp>
        <p:nvSpPr>
          <p:cNvPr id="18" name="Text 15"/>
          <p:cNvSpPr txBox="1"/>
          <p:nvPr/>
        </p:nvSpPr>
        <p:spPr>
          <a:xfrm>
            <a:off x="822960" y="436168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6"/>
          <p:cNvSpPr txBox="1"/>
          <p:nvPr/>
        </p:nvSpPr>
        <p:spPr>
          <a:xfrm>
            <a:off x="1508760" y="4087368"/>
            <a:ext cx="3657600" cy="1024128"/>
          </a:xfrm>
          <a:prstGeom prst="rect">
            <a:avLst/>
          </a:prstGeom>
          <a:noFill/>
          <a:ln/>
        </p:spPr>
        <p:txBody>
          <a:bodyPr wrap="square" lIns="0" tIns="0" rIns="0" bIns="0" rtlCol="0" anchor="ctr"/>
          <a:lstStyle/>
          <a:p>
            <a:pPr indent="0" marL="0">
              <a:buNone/>
            </a:pPr>
            <a:r>
              <a:rPr lang="en-US" sz="2000" b="1" dirty="0">
                <a:solidFill>
                  <a:srgbClr val="15130F"/>
                </a:solidFill>
                <a:latin typeface="Cambria" pitchFamily="34" charset="0"/>
                <a:ea typeface="Cambria" pitchFamily="34" charset="-122"/>
                <a:cs typeface="Cambria" pitchFamily="34" charset="-120"/>
              </a:rPr>
              <a:t>Diagnose</a:t>
            </a:r>
            <a:endParaRPr lang="en-US" sz="2000" dirty="0"/>
          </a:p>
          <a:p>
            <a:pPr indent="0" marL="0">
              <a:buNone/>
            </a:pPr>
            <a:r>
              <a:rPr lang="en-US" sz="1400" dirty="0">
                <a:solidFill>
                  <a:srgbClr val="57534A"/>
                </a:solidFill>
                <a:latin typeface="Calibri" pitchFamily="34" charset="0"/>
                <a:ea typeface="Calibri" pitchFamily="34" charset="-122"/>
                <a:cs typeface="Calibri" pitchFamily="34" charset="-120"/>
              </a:rPr>
              <a:t>Your answer is judged for understanding, not keywords.</a:t>
            </a:r>
            <a:endParaRPr lang="en-US" sz="2000" dirty="0"/>
          </a:p>
        </p:txBody>
      </p:sp>
      <p:sp>
        <p:nvSpPr>
          <p:cNvPr id="20" name="Shape 17"/>
          <p:cNvSpPr/>
          <p:nvPr/>
        </p:nvSpPr>
        <p:spPr>
          <a:xfrm>
            <a:off x="640080" y="5239512"/>
            <a:ext cx="4663440" cy="1024128"/>
          </a:xfrm>
          <a:prstGeom prst="roundRect">
            <a:avLst>
              <a:gd name="adj" fmla="val 10714"/>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21" name="Shape 18"/>
          <p:cNvSpPr/>
          <p:nvPr/>
        </p:nvSpPr>
        <p:spPr>
          <a:xfrm>
            <a:off x="822960" y="5513832"/>
            <a:ext cx="475488" cy="475488"/>
          </a:xfrm>
          <a:prstGeom prst="ellipse">
            <a:avLst/>
          </a:prstGeom>
          <a:solidFill>
            <a:srgbClr val="FF4D1F"/>
          </a:solidFill>
          <a:ln w="12700">
            <a:solidFill>
              <a:srgbClr val="FF4D1F"/>
            </a:solidFill>
            <a:prstDash val="solid"/>
          </a:ln>
        </p:spPr>
      </p:sp>
      <p:sp>
        <p:nvSpPr>
          <p:cNvPr id="22" name="Text 19"/>
          <p:cNvSpPr txBox="1"/>
          <p:nvPr/>
        </p:nvSpPr>
        <p:spPr>
          <a:xfrm>
            <a:off x="822960" y="551383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0"/>
          <p:cNvSpPr txBox="1"/>
          <p:nvPr/>
        </p:nvSpPr>
        <p:spPr>
          <a:xfrm>
            <a:off x="1508760" y="5239512"/>
            <a:ext cx="3657600" cy="1024128"/>
          </a:xfrm>
          <a:prstGeom prst="rect">
            <a:avLst/>
          </a:prstGeom>
          <a:noFill/>
          <a:ln/>
        </p:spPr>
        <p:txBody>
          <a:bodyPr wrap="square" lIns="0" tIns="0" rIns="0" bIns="0" rtlCol="0" anchor="ctr"/>
          <a:lstStyle/>
          <a:p>
            <a:pPr indent="0" marL="0">
              <a:buNone/>
            </a:pPr>
            <a:r>
              <a:rPr lang="en-US" sz="2000" b="1" dirty="0">
                <a:solidFill>
                  <a:srgbClr val="15130F"/>
                </a:solidFill>
                <a:latin typeface="Cambria" pitchFamily="34" charset="0"/>
                <a:ea typeface="Cambria" pitchFamily="34" charset="-122"/>
                <a:cs typeface="Cambria" pitchFamily="34" charset="-120"/>
              </a:rPr>
              <a:t>Re-ask</a:t>
            </a:r>
            <a:endParaRPr lang="en-US" sz="2000" dirty="0"/>
          </a:p>
          <a:p>
            <a:pPr indent="0" marL="0">
              <a:buNone/>
            </a:pPr>
            <a:r>
              <a:rPr lang="en-US" sz="1400" dirty="0">
                <a:solidFill>
                  <a:srgbClr val="57534A"/>
                </a:solidFill>
                <a:latin typeface="Calibri" pitchFamily="34" charset="0"/>
                <a:ea typeface="Calibri" pitchFamily="34" charset="-122"/>
                <a:cs typeface="Calibri" pitchFamily="34" charset="-120"/>
              </a:rPr>
              <a:t>A sharper follow-up targets the gap, then the chapter unlocks.</a:t>
            </a:r>
            <a:endParaRPr lang="en-US" sz="2000" dirty="0"/>
          </a:p>
        </p:txBody>
      </p:sp>
      <p:sp>
        <p:nvSpPr>
          <p:cNvPr id="24" name="Shape 21"/>
          <p:cNvSpPr/>
          <p:nvPr/>
        </p:nvSpPr>
        <p:spPr>
          <a:xfrm>
            <a:off x="5703113" y="1728216"/>
            <a:ext cx="5903366" cy="4133088"/>
          </a:xfrm>
          <a:prstGeom prst="roundRect">
            <a:avLst>
              <a:gd name="adj" fmla="val 2212"/>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pic>
        <p:nvPicPr>
          <p:cNvPr id="25" name="Image 1" descr="Video paused at a chapter boundary with a recall question">    </p:cNvPr>
          <p:cNvPicPr>
            <a:picLocks noChangeAspect="1"/>
          </p:cNvPicPr>
          <p:nvPr/>
        </p:nvPicPr>
        <p:blipFill>
          <a:blip r:embed="rId2"/>
          <a:srcRect l="0" r="0" t="0" b="0"/>
          <a:stretch/>
        </p:blipFill>
        <p:spPr>
          <a:xfrm>
            <a:off x="5757977" y="1783080"/>
            <a:ext cx="5793638" cy="4023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CREATIVE AI</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5 / 11</a:t>
            </a:r>
            <a:endParaRPr lang="en-US" sz="1000" dirty="0"/>
          </a:p>
        </p:txBody>
      </p:sp>
      <p:sp>
        <p:nvSpPr>
          <p:cNvPr id="7" name="Text 4"/>
          <p:cNvSpPr txBox="1"/>
          <p:nvPr/>
        </p:nvSpPr>
        <p:spPr>
          <a:xfrm>
            <a:off x="640080" y="914400"/>
            <a:ext cx="5669280" cy="1188720"/>
          </a:xfrm>
          <a:prstGeom prst="rect">
            <a:avLst/>
          </a:prstGeom>
          <a:noFill/>
          <a:ln/>
        </p:spPr>
        <p:txBody>
          <a:bodyPr wrap="square" lIns="0" tIns="0" rIns="0" bIns="0" rtlCol="0" anchor="t"/>
          <a:lstStyle/>
          <a:p>
            <a:pPr indent="0" marL="0">
              <a:buNone/>
            </a:pPr>
            <a:r>
              <a:rPr lang="en-US" sz="3400" b="1" dirty="0">
                <a:solidFill>
                  <a:srgbClr val="15130F"/>
                </a:solidFill>
                <a:latin typeface="Cambria" pitchFamily="34" charset="0"/>
                <a:ea typeface="Cambria" pitchFamily="34" charset="-122"/>
                <a:cs typeface="Cambria" pitchFamily="34" charset="-120"/>
              </a:rPr>
              <a:t>It diagnoses the</a:t>
            </a:r>
            <a:endParaRPr lang="en-US" sz="3400" dirty="0"/>
          </a:p>
          <a:p>
            <a:pPr indent="0" marL="0">
              <a:buNone/>
            </a:pPr>
            <a:r>
              <a:rPr lang="en-US" sz="3400" b="1" dirty="0">
                <a:solidFill>
                  <a:srgbClr val="15130F"/>
                </a:solidFill>
                <a:latin typeface="Cambria" pitchFamily="34" charset="0"/>
                <a:ea typeface="Cambria" pitchFamily="34" charset="-122"/>
                <a:cs typeface="Cambria" pitchFamily="34" charset="-120"/>
              </a:rPr>
              <a:t>misconception</a:t>
            </a:r>
            <a:endParaRPr lang="en-US" sz="3400" dirty="0"/>
          </a:p>
        </p:txBody>
      </p:sp>
      <p:sp>
        <p:nvSpPr>
          <p:cNvPr id="8" name="Shape 5"/>
          <p:cNvSpPr/>
          <p:nvPr/>
        </p:nvSpPr>
        <p:spPr>
          <a:xfrm>
            <a:off x="640080" y="2331720"/>
            <a:ext cx="1325880" cy="402336"/>
          </a:xfrm>
          <a:prstGeom prst="roundRect">
            <a:avLst>
              <a:gd name="adj" fmla="val 50000"/>
            </a:avLst>
          </a:prstGeom>
          <a:solidFill>
            <a:srgbClr val="FFFFFF"/>
          </a:solidFill>
          <a:ln w="19050">
            <a:solidFill>
              <a:srgbClr val="15803D"/>
            </a:solidFill>
            <a:prstDash val="solid"/>
          </a:ln>
        </p:spPr>
      </p:sp>
      <p:sp>
        <p:nvSpPr>
          <p:cNvPr id="9" name="Text 6"/>
          <p:cNvSpPr txBox="1"/>
          <p:nvPr/>
        </p:nvSpPr>
        <p:spPr>
          <a:xfrm>
            <a:off x="640080" y="2331720"/>
            <a:ext cx="1325880" cy="402336"/>
          </a:xfrm>
          <a:prstGeom prst="rect">
            <a:avLst/>
          </a:prstGeom>
          <a:noFill/>
          <a:ln/>
        </p:spPr>
        <p:txBody>
          <a:bodyPr wrap="square" lIns="0" tIns="0" rIns="0" bIns="0" rtlCol="0" anchor="ctr"/>
          <a:lstStyle/>
          <a:p>
            <a:pPr algn="ctr" indent="0" marL="0">
              <a:buNone/>
            </a:pPr>
            <a:r>
              <a:rPr lang="en-US" sz="1200" b="1" dirty="0">
                <a:solidFill>
                  <a:srgbClr val="15803D"/>
                </a:solidFill>
                <a:latin typeface="Calibri" pitchFamily="34" charset="0"/>
                <a:ea typeface="Calibri" pitchFamily="34" charset="-122"/>
                <a:cs typeface="Calibri" pitchFamily="34" charset="-120"/>
              </a:rPr>
              <a:t>CORRECT</a:t>
            </a:r>
            <a:endParaRPr lang="en-US" sz="1200" dirty="0"/>
          </a:p>
        </p:txBody>
      </p:sp>
      <p:sp>
        <p:nvSpPr>
          <p:cNvPr id="10" name="Shape 7"/>
          <p:cNvSpPr/>
          <p:nvPr/>
        </p:nvSpPr>
        <p:spPr>
          <a:xfrm>
            <a:off x="2103120" y="2331720"/>
            <a:ext cx="2011680" cy="402336"/>
          </a:xfrm>
          <a:prstGeom prst="roundRect">
            <a:avLst>
              <a:gd name="adj" fmla="val 50000"/>
            </a:avLst>
          </a:prstGeom>
          <a:solidFill>
            <a:srgbClr val="FFFFFF"/>
          </a:solidFill>
          <a:ln w="19050">
            <a:solidFill>
              <a:srgbClr val="8A5A00"/>
            </a:solidFill>
            <a:prstDash val="solid"/>
          </a:ln>
        </p:spPr>
      </p:sp>
      <p:sp>
        <p:nvSpPr>
          <p:cNvPr id="11" name="Text 8"/>
          <p:cNvSpPr txBox="1"/>
          <p:nvPr/>
        </p:nvSpPr>
        <p:spPr>
          <a:xfrm>
            <a:off x="2103120" y="2331720"/>
            <a:ext cx="2011680" cy="402336"/>
          </a:xfrm>
          <a:prstGeom prst="rect">
            <a:avLst/>
          </a:prstGeom>
          <a:noFill/>
          <a:ln/>
        </p:spPr>
        <p:txBody>
          <a:bodyPr wrap="square" lIns="0" tIns="0" rIns="0" bIns="0" rtlCol="0" anchor="ctr"/>
          <a:lstStyle/>
          <a:p>
            <a:pPr algn="ctr" indent="0" marL="0">
              <a:buNone/>
            </a:pPr>
            <a:r>
              <a:rPr lang="en-US" sz="1200" b="1" dirty="0">
                <a:solidFill>
                  <a:srgbClr val="8A5A00"/>
                </a:solidFill>
                <a:latin typeface="Calibri" pitchFamily="34" charset="0"/>
                <a:ea typeface="Calibri" pitchFamily="34" charset="-122"/>
                <a:cs typeface="Calibri" pitchFamily="34" charset="-120"/>
              </a:rPr>
              <a:t>MISCONCEPTION</a:t>
            </a:r>
            <a:endParaRPr lang="en-US" sz="1200" dirty="0"/>
          </a:p>
        </p:txBody>
      </p:sp>
      <p:sp>
        <p:nvSpPr>
          <p:cNvPr id="12" name="Shape 9"/>
          <p:cNvSpPr/>
          <p:nvPr/>
        </p:nvSpPr>
        <p:spPr>
          <a:xfrm>
            <a:off x="4251960" y="2331720"/>
            <a:ext cx="1463040" cy="402336"/>
          </a:xfrm>
          <a:prstGeom prst="roundRect">
            <a:avLst>
              <a:gd name="adj" fmla="val 50000"/>
            </a:avLst>
          </a:prstGeom>
          <a:solidFill>
            <a:srgbClr val="FFFFFF"/>
          </a:solidFill>
          <a:ln w="19050">
            <a:solidFill>
              <a:srgbClr val="BA300F"/>
            </a:solidFill>
            <a:prstDash val="solid"/>
          </a:ln>
        </p:spPr>
      </p:sp>
      <p:sp>
        <p:nvSpPr>
          <p:cNvPr id="13" name="Text 10"/>
          <p:cNvSpPr txBox="1"/>
          <p:nvPr/>
        </p:nvSpPr>
        <p:spPr>
          <a:xfrm>
            <a:off x="4251960" y="2331720"/>
            <a:ext cx="1463040" cy="402336"/>
          </a:xfrm>
          <a:prstGeom prst="rect">
            <a:avLst/>
          </a:prstGeom>
          <a:noFill/>
          <a:ln/>
        </p:spPr>
        <p:txBody>
          <a:bodyPr wrap="square" lIns="0" tIns="0" rIns="0" bIns="0" rtlCol="0" anchor="ctr"/>
          <a:lstStyle/>
          <a:p>
            <a:pPr algn="ctr" indent="0" marL="0">
              <a:buNone/>
            </a:pPr>
            <a:r>
              <a:rPr lang="en-US" sz="1200" b="1" dirty="0">
                <a:solidFill>
                  <a:srgbClr val="BA300F"/>
                </a:solidFill>
                <a:latin typeface="Calibri" pitchFamily="34" charset="0"/>
                <a:ea typeface="Calibri" pitchFamily="34" charset="-122"/>
                <a:cs typeface="Calibri" pitchFamily="34" charset="-120"/>
              </a:rPr>
              <a:t>INCORRECT</a:t>
            </a:r>
            <a:endParaRPr lang="en-US" sz="1200" dirty="0"/>
          </a:p>
        </p:txBody>
      </p:sp>
      <p:sp>
        <p:nvSpPr>
          <p:cNvPr id="14" name="Shape 11"/>
          <p:cNvSpPr/>
          <p:nvPr/>
        </p:nvSpPr>
        <p:spPr>
          <a:xfrm>
            <a:off x="640080" y="3108960"/>
            <a:ext cx="384048" cy="384048"/>
          </a:xfrm>
          <a:prstGeom prst="ellipse">
            <a:avLst/>
          </a:prstGeom>
          <a:solidFill>
            <a:srgbClr val="FF4D1F"/>
          </a:solidFill>
          <a:ln w="12700">
            <a:solidFill>
              <a:srgbClr val="FF4D1F"/>
            </a:solidFill>
            <a:prstDash val="solid"/>
          </a:ln>
        </p:spPr>
      </p:sp>
      <p:sp>
        <p:nvSpPr>
          <p:cNvPr id="15" name="Text 12"/>
          <p:cNvSpPr txBox="1"/>
          <p:nvPr/>
        </p:nvSpPr>
        <p:spPr>
          <a:xfrm>
            <a:off x="640080" y="310896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6" name="Text 13"/>
          <p:cNvSpPr txBox="1"/>
          <p:nvPr/>
        </p:nvSpPr>
        <p:spPr>
          <a:xfrm>
            <a:off x="1234440" y="3063240"/>
            <a:ext cx="4572000" cy="960120"/>
          </a:xfrm>
          <a:prstGeom prst="rect">
            <a:avLst/>
          </a:prstGeom>
          <a:noFill/>
          <a:ln/>
        </p:spPr>
        <p:txBody>
          <a:bodyPr wrap="square" lIns="0" tIns="0" rIns="0" bIns="0" rtlCol="0" anchor="t"/>
          <a:lstStyle/>
          <a:p>
            <a:pPr indent="0" marL="0">
              <a:buNone/>
            </a:pPr>
            <a:r>
              <a:rPr lang="en-US" sz="1600" dirty="0">
                <a:solidFill>
                  <a:srgbClr val="15130F"/>
                </a:solidFill>
                <a:latin typeface="Calibri" pitchFamily="34" charset="0"/>
                <a:ea typeface="Calibri" pitchFamily="34" charset="-122"/>
                <a:cs typeface="Calibri" pitchFamily="34" charset="-120"/>
              </a:rPr>
              <a:t>A 0-100 mastery score, plus what you understood, what is missing, and which mental model is wrong.</a:t>
            </a:r>
            <a:endParaRPr lang="en-US" sz="1600" dirty="0"/>
          </a:p>
        </p:txBody>
      </p:sp>
      <p:sp>
        <p:nvSpPr>
          <p:cNvPr id="17" name="Shape 14"/>
          <p:cNvSpPr/>
          <p:nvPr/>
        </p:nvSpPr>
        <p:spPr>
          <a:xfrm>
            <a:off x="640080" y="4160520"/>
            <a:ext cx="384048" cy="384048"/>
          </a:xfrm>
          <a:prstGeom prst="ellipse">
            <a:avLst/>
          </a:prstGeom>
          <a:solidFill>
            <a:srgbClr val="FF4D1F"/>
          </a:solidFill>
          <a:ln w="12700">
            <a:solidFill>
              <a:srgbClr val="FF4D1F"/>
            </a:solidFill>
            <a:prstDash val="solid"/>
          </a:ln>
        </p:spPr>
      </p:sp>
      <p:sp>
        <p:nvSpPr>
          <p:cNvPr id="18" name="Text 15"/>
          <p:cNvSpPr txBox="1"/>
          <p:nvPr/>
        </p:nvSpPr>
        <p:spPr>
          <a:xfrm>
            <a:off x="640080" y="41605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9" name="Text 16"/>
          <p:cNvSpPr txBox="1"/>
          <p:nvPr/>
        </p:nvSpPr>
        <p:spPr>
          <a:xfrm>
            <a:off x="1234440" y="4114800"/>
            <a:ext cx="4572000" cy="960120"/>
          </a:xfrm>
          <a:prstGeom prst="rect">
            <a:avLst/>
          </a:prstGeom>
          <a:noFill/>
          <a:ln/>
        </p:spPr>
        <p:txBody>
          <a:bodyPr wrap="square" lIns="0" tIns="0" rIns="0" bIns="0" rtlCol="0" anchor="t"/>
          <a:lstStyle/>
          <a:p>
            <a:pPr indent="0" marL="0">
              <a:buNone/>
            </a:pPr>
            <a:r>
              <a:rPr lang="en-US" sz="1600" dirty="0">
                <a:solidFill>
                  <a:srgbClr val="15130F"/>
                </a:solidFill>
                <a:latin typeface="Calibri" pitchFamily="34" charset="0"/>
                <a:ea typeface="Calibri" pitchFamily="34" charset="-122"/>
                <a:cs typeface="Calibri" pitchFamily="34" charset="-120"/>
              </a:rPr>
              <a:t>Follow-ups adapt: first a rephrase, then a narrower question aimed at the misconception.</a:t>
            </a:r>
            <a:endParaRPr lang="en-US" sz="1600" dirty="0"/>
          </a:p>
        </p:txBody>
      </p:sp>
      <p:sp>
        <p:nvSpPr>
          <p:cNvPr id="20" name="Shape 17"/>
          <p:cNvSpPr/>
          <p:nvPr/>
        </p:nvSpPr>
        <p:spPr>
          <a:xfrm>
            <a:off x="640080" y="5212080"/>
            <a:ext cx="384048" cy="384048"/>
          </a:xfrm>
          <a:prstGeom prst="ellipse">
            <a:avLst/>
          </a:prstGeom>
          <a:solidFill>
            <a:srgbClr val="FF4D1F"/>
          </a:solidFill>
          <a:ln w="12700">
            <a:solidFill>
              <a:srgbClr val="FF4D1F"/>
            </a:solidFill>
            <a:prstDash val="solid"/>
          </a:ln>
        </p:spPr>
      </p:sp>
      <p:sp>
        <p:nvSpPr>
          <p:cNvPr id="21" name="Text 18"/>
          <p:cNvSpPr txBox="1"/>
          <p:nvPr/>
        </p:nvSpPr>
        <p:spPr>
          <a:xfrm>
            <a:off x="640080" y="521208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2" name="Text 19"/>
          <p:cNvSpPr txBox="1"/>
          <p:nvPr/>
        </p:nvSpPr>
        <p:spPr>
          <a:xfrm>
            <a:off x="1234440" y="5166360"/>
            <a:ext cx="4572000" cy="960120"/>
          </a:xfrm>
          <a:prstGeom prst="rect">
            <a:avLst/>
          </a:prstGeom>
          <a:noFill/>
          <a:ln/>
        </p:spPr>
        <p:txBody>
          <a:bodyPr wrap="square" lIns="0" tIns="0" rIns="0" bIns="0" rtlCol="0" anchor="t"/>
          <a:lstStyle/>
          <a:p>
            <a:pPr indent="0" marL="0">
              <a:buNone/>
            </a:pPr>
            <a:r>
              <a:rPr lang="en-US" sz="1600" dirty="0">
                <a:solidFill>
                  <a:srgbClr val="15130F"/>
                </a:solidFill>
                <a:latin typeface="Calibri" pitchFamily="34" charset="0"/>
                <a:ea typeface="Calibri" pitchFamily="34" charset="-122"/>
                <a:cs typeface="Calibri" pitchFamily="34" charset="-120"/>
              </a:rPr>
              <a:t>After 3 attempts the chapter is flagged Needs Review and you move on. The server enforces that limit.</a:t>
            </a:r>
            <a:endParaRPr lang="en-US" sz="1600" dirty="0"/>
          </a:p>
        </p:txBody>
      </p:sp>
      <p:sp>
        <p:nvSpPr>
          <p:cNvPr id="23" name="Shape 20"/>
          <p:cNvSpPr/>
          <p:nvPr/>
        </p:nvSpPr>
        <p:spPr>
          <a:xfrm>
            <a:off x="6381738" y="1362456"/>
            <a:ext cx="5224741" cy="4727448"/>
          </a:xfrm>
          <a:prstGeom prst="roundRect">
            <a:avLst>
              <a:gd name="adj" fmla="val 1934"/>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pic>
        <p:nvPicPr>
          <p:cNvPr id="24" name="Image 1" descr="Misconception verdict with a guided follow-up question">    </p:cNvPr>
          <p:cNvPicPr>
            <a:picLocks noChangeAspect="1"/>
          </p:cNvPicPr>
          <p:nvPr/>
        </p:nvPicPr>
        <p:blipFill>
          <a:blip r:embed="rId2"/>
          <a:srcRect l="0" r="0" t="0" b="0"/>
          <a:stretch/>
        </p:blipFill>
        <p:spPr>
          <a:xfrm>
            <a:off x="6436602" y="1417320"/>
            <a:ext cx="5115013" cy="4617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CREATIVE AI</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6 / 11</a:t>
            </a:r>
            <a:endParaRPr lang="en-US" sz="1000" dirty="0"/>
          </a:p>
        </p:txBody>
      </p:sp>
      <p:sp>
        <p:nvSpPr>
          <p:cNvPr id="7" name="Text 4"/>
          <p:cNvSpPr txBox="1"/>
          <p:nvPr/>
        </p:nvSpPr>
        <p:spPr>
          <a:xfrm>
            <a:off x="640080" y="914400"/>
            <a:ext cx="10911535" cy="731520"/>
          </a:xfrm>
          <a:prstGeom prst="rect">
            <a:avLst/>
          </a:prstGeom>
          <a:noFill/>
          <a:ln/>
        </p:spPr>
        <p:txBody>
          <a:bodyPr wrap="square" lIns="0" tIns="0" rIns="0" bIns="0" rtlCol="0" anchor="t"/>
          <a:lstStyle/>
          <a:p>
            <a:pPr indent="0" marL="0">
              <a:buNone/>
            </a:pPr>
            <a:r>
              <a:rPr lang="en-US" sz="3400" b="1" dirty="0">
                <a:solidFill>
                  <a:srgbClr val="15130F"/>
                </a:solidFill>
                <a:latin typeface="Cambria" pitchFamily="34" charset="0"/>
                <a:ea typeface="Cambria" pitchFamily="34" charset="-122"/>
                <a:cs typeface="Cambria" pitchFamily="34" charset="-120"/>
              </a:rPr>
              <a:t>It sees the screen and hears you</a:t>
            </a:r>
            <a:endParaRPr lang="en-US" sz="3400" dirty="0"/>
          </a:p>
        </p:txBody>
      </p:sp>
      <p:sp>
        <p:nvSpPr>
          <p:cNvPr id="8" name="Shape 5"/>
          <p:cNvSpPr/>
          <p:nvPr/>
        </p:nvSpPr>
        <p:spPr>
          <a:xfrm>
            <a:off x="640080" y="1965960"/>
            <a:ext cx="3484778" cy="3017520"/>
          </a:xfrm>
          <a:prstGeom prst="roundRect">
            <a:avLst>
              <a:gd name="adj" fmla="val 3636"/>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9" name="Shape 6"/>
          <p:cNvSpPr/>
          <p:nvPr/>
        </p:nvSpPr>
        <p:spPr>
          <a:xfrm>
            <a:off x="960120" y="2286000"/>
            <a:ext cx="868680" cy="868680"/>
          </a:xfrm>
          <a:prstGeom prst="ellipse">
            <a:avLst/>
          </a:prstGeom>
          <a:solidFill>
            <a:srgbClr val="FFF1EA"/>
          </a:solidFill>
          <a:ln w="12700">
            <a:solidFill>
              <a:srgbClr val="FFF1EA"/>
            </a:solidFill>
            <a:prstDash val="solid"/>
          </a:ln>
        </p:spPr>
      </p:sp>
      <p:pic>
        <p:nvPicPr>
          <p:cNvPr id="10" name="Image 1" descr="Explain this screen">    </p:cNvPr>
          <p:cNvPicPr>
            <a:picLocks noChangeAspect="1"/>
          </p:cNvPicPr>
          <p:nvPr/>
        </p:nvPicPr>
        <p:blipFill>
          <a:blip r:embed="rId2"/>
          <a:stretch>
            <a:fillRect/>
          </a:stretch>
        </p:blipFill>
        <p:spPr>
          <a:xfrm>
            <a:off x="1188720" y="2514600"/>
            <a:ext cx="411480" cy="411480"/>
          </a:xfrm>
          <a:prstGeom prst="rect">
            <a:avLst/>
          </a:prstGeom>
        </p:spPr>
      </p:pic>
      <p:sp>
        <p:nvSpPr>
          <p:cNvPr id="11" name="Text 7"/>
          <p:cNvSpPr txBox="1"/>
          <p:nvPr/>
        </p:nvSpPr>
        <p:spPr>
          <a:xfrm>
            <a:off x="960120" y="3337560"/>
            <a:ext cx="2844698" cy="457200"/>
          </a:xfrm>
          <a:prstGeom prst="rect">
            <a:avLst/>
          </a:prstGeom>
          <a:noFill/>
          <a:ln/>
        </p:spPr>
        <p:txBody>
          <a:bodyPr wrap="square" lIns="0" tIns="0" rIns="0" bIns="0" rtlCol="0" anchor="ctr"/>
          <a:lstStyle/>
          <a:p>
            <a:pPr indent="0" marL="0">
              <a:buNone/>
            </a:pPr>
            <a:r>
              <a:rPr lang="en-US" sz="2200" b="1" dirty="0">
                <a:solidFill>
                  <a:srgbClr val="15130F"/>
                </a:solidFill>
                <a:latin typeface="Cambria" pitchFamily="34" charset="0"/>
                <a:ea typeface="Cambria" pitchFamily="34" charset="-122"/>
                <a:cs typeface="Cambria" pitchFamily="34" charset="-120"/>
              </a:rPr>
              <a:t>Explain this screen</a:t>
            </a:r>
            <a:endParaRPr lang="en-US" sz="2200" dirty="0"/>
          </a:p>
        </p:txBody>
      </p:sp>
      <p:sp>
        <p:nvSpPr>
          <p:cNvPr id="12" name="Text 8"/>
          <p:cNvSpPr txBox="1"/>
          <p:nvPr/>
        </p:nvSpPr>
        <p:spPr>
          <a:xfrm>
            <a:off x="960120" y="3840480"/>
            <a:ext cx="2844698" cy="1005840"/>
          </a:xfrm>
          <a:prstGeom prst="rect">
            <a:avLst/>
          </a:prstGeom>
          <a:noFill/>
          <a:ln/>
        </p:spPr>
        <p:txBody>
          <a:bodyPr wrap="square" lIns="0" tIns="0" rIns="0" bIns="0" rtlCol="0" anchor="t"/>
          <a:lstStyle/>
          <a:p>
            <a:pPr indent="0" marL="0">
              <a:buNone/>
            </a:pPr>
            <a:r>
              <a:rPr lang="en-US" sz="1600" dirty="0">
                <a:solidFill>
                  <a:srgbClr val="15130F"/>
                </a:solidFill>
                <a:latin typeface="Calibri" pitchFamily="34" charset="0"/>
                <a:ea typeface="Calibri" pitchFamily="34" charset="-122"/>
                <a:cs typeface="Calibri" pitchFamily="34" charset="-120"/>
              </a:rPr>
              <a:t>Gemini vision reads the paused frame: equations to LaTeX, diagrams, and on-screen text.</a:t>
            </a:r>
            <a:endParaRPr lang="en-US" sz="1600" dirty="0"/>
          </a:p>
        </p:txBody>
      </p:sp>
      <p:sp>
        <p:nvSpPr>
          <p:cNvPr id="13" name="Shape 9"/>
          <p:cNvSpPr/>
          <p:nvPr/>
        </p:nvSpPr>
        <p:spPr>
          <a:xfrm>
            <a:off x="4353458" y="1965960"/>
            <a:ext cx="3484778" cy="3017520"/>
          </a:xfrm>
          <a:prstGeom prst="roundRect">
            <a:avLst>
              <a:gd name="adj" fmla="val 3636"/>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14" name="Shape 10"/>
          <p:cNvSpPr/>
          <p:nvPr/>
        </p:nvSpPr>
        <p:spPr>
          <a:xfrm>
            <a:off x="4673498" y="2286000"/>
            <a:ext cx="868680" cy="868680"/>
          </a:xfrm>
          <a:prstGeom prst="ellipse">
            <a:avLst/>
          </a:prstGeom>
          <a:solidFill>
            <a:srgbClr val="FFF1EA"/>
          </a:solidFill>
          <a:ln w="12700">
            <a:solidFill>
              <a:srgbClr val="FFF1EA"/>
            </a:solidFill>
            <a:prstDash val="solid"/>
          </a:ln>
        </p:spPr>
      </p:sp>
      <p:pic>
        <p:nvPicPr>
          <p:cNvPr id="15" name="Image 2" descr="Answer out loud">    </p:cNvPr>
          <p:cNvPicPr>
            <a:picLocks noChangeAspect="1"/>
          </p:cNvPicPr>
          <p:nvPr/>
        </p:nvPicPr>
        <p:blipFill>
          <a:blip r:embed="rId3"/>
          <a:stretch>
            <a:fillRect/>
          </a:stretch>
        </p:blipFill>
        <p:spPr>
          <a:xfrm>
            <a:off x="4902098" y="2514600"/>
            <a:ext cx="411480" cy="411480"/>
          </a:xfrm>
          <a:prstGeom prst="rect">
            <a:avLst/>
          </a:prstGeom>
        </p:spPr>
      </p:pic>
      <p:sp>
        <p:nvSpPr>
          <p:cNvPr id="16" name="Text 11"/>
          <p:cNvSpPr txBox="1"/>
          <p:nvPr/>
        </p:nvSpPr>
        <p:spPr>
          <a:xfrm>
            <a:off x="4673498" y="3337560"/>
            <a:ext cx="2844698" cy="457200"/>
          </a:xfrm>
          <a:prstGeom prst="rect">
            <a:avLst/>
          </a:prstGeom>
          <a:noFill/>
          <a:ln/>
        </p:spPr>
        <p:txBody>
          <a:bodyPr wrap="square" lIns="0" tIns="0" rIns="0" bIns="0" rtlCol="0" anchor="ctr"/>
          <a:lstStyle/>
          <a:p>
            <a:pPr indent="0" marL="0">
              <a:buNone/>
            </a:pPr>
            <a:r>
              <a:rPr lang="en-US" sz="2200" b="1" dirty="0">
                <a:solidFill>
                  <a:srgbClr val="15130F"/>
                </a:solidFill>
                <a:latin typeface="Cambria" pitchFamily="34" charset="0"/>
                <a:ea typeface="Cambria" pitchFamily="34" charset="-122"/>
                <a:cs typeface="Cambria" pitchFamily="34" charset="-120"/>
              </a:rPr>
              <a:t>Answer out loud</a:t>
            </a:r>
            <a:endParaRPr lang="en-US" sz="2200" dirty="0"/>
          </a:p>
        </p:txBody>
      </p:sp>
      <p:sp>
        <p:nvSpPr>
          <p:cNvPr id="17" name="Text 12"/>
          <p:cNvSpPr txBox="1"/>
          <p:nvPr/>
        </p:nvSpPr>
        <p:spPr>
          <a:xfrm>
            <a:off x="4673498" y="3840480"/>
            <a:ext cx="2844698" cy="1005840"/>
          </a:xfrm>
          <a:prstGeom prst="rect">
            <a:avLst/>
          </a:prstGeom>
          <a:noFill/>
          <a:ln/>
        </p:spPr>
        <p:txBody>
          <a:bodyPr wrap="square" lIns="0" tIns="0" rIns="0" bIns="0" rtlCol="0" anchor="t"/>
          <a:lstStyle/>
          <a:p>
            <a:pPr indent="0" marL="0">
              <a:buNone/>
            </a:pPr>
            <a:r>
              <a:rPr lang="en-US" sz="1600" dirty="0">
                <a:solidFill>
                  <a:srgbClr val="15130F"/>
                </a:solidFill>
                <a:latin typeface="Calibri" pitchFamily="34" charset="0"/>
                <a:ea typeface="Calibri" pitchFamily="34" charset="-122"/>
                <a:cs typeface="Calibri" pitchFamily="34" charset="-120"/>
              </a:rPr>
              <a:t>Speak your explanation. Browsers without speech support fall back to Gemini audio transcription.</a:t>
            </a:r>
            <a:endParaRPr lang="en-US" sz="1600" dirty="0"/>
          </a:p>
        </p:txBody>
      </p:sp>
      <p:sp>
        <p:nvSpPr>
          <p:cNvPr id="18" name="Shape 13"/>
          <p:cNvSpPr/>
          <p:nvPr/>
        </p:nvSpPr>
        <p:spPr>
          <a:xfrm>
            <a:off x="8066837" y="1965960"/>
            <a:ext cx="3484778" cy="3017520"/>
          </a:xfrm>
          <a:prstGeom prst="roundRect">
            <a:avLst>
              <a:gd name="adj" fmla="val 3636"/>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19" name="Shape 14"/>
          <p:cNvSpPr/>
          <p:nvPr/>
        </p:nvSpPr>
        <p:spPr>
          <a:xfrm>
            <a:off x="8386877" y="2286000"/>
            <a:ext cx="868680" cy="868680"/>
          </a:xfrm>
          <a:prstGeom prst="ellipse">
            <a:avLst/>
          </a:prstGeom>
          <a:solidFill>
            <a:srgbClr val="FFF1EA"/>
          </a:solidFill>
          <a:ln w="12700">
            <a:solidFill>
              <a:srgbClr val="FFF1EA"/>
            </a:solidFill>
            <a:prstDash val="solid"/>
          </a:ln>
        </p:spPr>
      </p:sp>
      <p:pic>
        <p:nvPicPr>
          <p:cNvPr id="20" name="Image 3" descr="Keyframe flashcards">    </p:cNvPr>
          <p:cNvPicPr>
            <a:picLocks noChangeAspect="1"/>
          </p:cNvPicPr>
          <p:nvPr/>
        </p:nvPicPr>
        <p:blipFill>
          <a:blip r:embed="rId4"/>
          <a:stretch>
            <a:fillRect/>
          </a:stretch>
        </p:blipFill>
        <p:spPr>
          <a:xfrm>
            <a:off x="8615477" y="2514600"/>
            <a:ext cx="411480" cy="411480"/>
          </a:xfrm>
          <a:prstGeom prst="rect">
            <a:avLst/>
          </a:prstGeom>
        </p:spPr>
      </p:pic>
      <p:sp>
        <p:nvSpPr>
          <p:cNvPr id="21" name="Text 15"/>
          <p:cNvSpPr txBox="1"/>
          <p:nvPr/>
        </p:nvSpPr>
        <p:spPr>
          <a:xfrm>
            <a:off x="8386877" y="3337560"/>
            <a:ext cx="2844698" cy="457200"/>
          </a:xfrm>
          <a:prstGeom prst="rect">
            <a:avLst/>
          </a:prstGeom>
          <a:noFill/>
          <a:ln/>
        </p:spPr>
        <p:txBody>
          <a:bodyPr wrap="square" lIns="0" tIns="0" rIns="0" bIns="0" rtlCol="0" anchor="ctr"/>
          <a:lstStyle/>
          <a:p>
            <a:pPr indent="0" marL="0">
              <a:buNone/>
            </a:pPr>
            <a:r>
              <a:rPr lang="en-US" sz="2200" b="1" dirty="0">
                <a:solidFill>
                  <a:srgbClr val="15130F"/>
                </a:solidFill>
                <a:latin typeface="Cambria" pitchFamily="34" charset="0"/>
                <a:ea typeface="Cambria" pitchFamily="34" charset="-122"/>
                <a:cs typeface="Cambria" pitchFamily="34" charset="-120"/>
              </a:rPr>
              <a:t>Keyframe flashcards</a:t>
            </a:r>
            <a:endParaRPr lang="en-US" sz="2200" dirty="0"/>
          </a:p>
        </p:txBody>
      </p:sp>
      <p:sp>
        <p:nvSpPr>
          <p:cNvPr id="22" name="Text 16"/>
          <p:cNvSpPr txBox="1"/>
          <p:nvPr/>
        </p:nvSpPr>
        <p:spPr>
          <a:xfrm>
            <a:off x="8386877" y="3840480"/>
            <a:ext cx="2844698" cy="1005840"/>
          </a:xfrm>
          <a:prstGeom prst="rect">
            <a:avLst/>
          </a:prstGeom>
          <a:noFill/>
          <a:ln/>
        </p:spPr>
        <p:txBody>
          <a:bodyPr wrap="square" lIns="0" tIns="0" rIns="0" bIns="0" rtlCol="0" anchor="t"/>
          <a:lstStyle/>
          <a:p>
            <a:pPr indent="0" marL="0">
              <a:buNone/>
            </a:pPr>
            <a:r>
              <a:rPr lang="en-US" sz="1600" dirty="0">
                <a:solidFill>
                  <a:srgbClr val="15130F"/>
                </a:solidFill>
                <a:latin typeface="Calibri" pitchFamily="34" charset="0"/>
                <a:ea typeface="Calibri" pitchFamily="34" charset="-122"/>
                <a:cs typeface="Calibri" pitchFamily="34" charset="-120"/>
              </a:rPr>
              <a:t>Each chapter's key frame becomes an active-recall flashcard that feeds your notes.</a:t>
            </a:r>
            <a:endParaRPr lang="en-US" sz="1600" dirty="0"/>
          </a:p>
        </p:txBody>
      </p:sp>
      <p:sp>
        <p:nvSpPr>
          <p:cNvPr id="23" name="Shape 17"/>
          <p:cNvSpPr/>
          <p:nvPr/>
        </p:nvSpPr>
        <p:spPr>
          <a:xfrm>
            <a:off x="640080" y="5349240"/>
            <a:ext cx="10911535" cy="731520"/>
          </a:xfrm>
          <a:prstGeom prst="roundRect">
            <a:avLst>
              <a:gd name="adj" fmla="val 15000"/>
            </a:avLst>
          </a:prstGeom>
          <a:solidFill>
            <a:srgbClr val="FFF1EA"/>
          </a:solidFill>
          <a:ln w="12700">
            <a:solidFill>
              <a:srgbClr val="FFF1EA"/>
            </a:solidFill>
            <a:prstDash val="solid"/>
          </a:ln>
        </p:spPr>
      </p:sp>
      <p:sp>
        <p:nvSpPr>
          <p:cNvPr id="24" name="Text 18"/>
          <p:cNvSpPr txBox="1"/>
          <p:nvPr/>
        </p:nvSpPr>
        <p:spPr>
          <a:xfrm>
            <a:off x="1005840" y="5349240"/>
            <a:ext cx="10180015" cy="731520"/>
          </a:xfrm>
          <a:prstGeom prst="rect">
            <a:avLst/>
          </a:prstGeom>
          <a:noFill/>
          <a:ln/>
        </p:spPr>
        <p:txBody>
          <a:bodyPr wrap="square" lIns="0" tIns="0" rIns="0" bIns="0" rtlCol="0" anchor="ctr"/>
          <a:lstStyle/>
          <a:p>
            <a:pPr indent="0" marL="0">
              <a:buNone/>
            </a:pPr>
            <a:r>
              <a:rPr lang="en-US" sz="1700" i="1" dirty="0">
                <a:solidFill>
                  <a:srgbClr val="BA300F"/>
                </a:solidFill>
                <a:latin typeface="Calibri" pitchFamily="34" charset="0"/>
                <a:ea typeface="Calibri" pitchFamily="34" charset="-122"/>
                <a:cs typeface="Calibri" pitchFamily="34" charset="-120"/>
              </a:rPr>
              <a:t>If media tools are unavailable, Studify keeps working in text-only mode. Nothing blocks the learner.</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IMPACT</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7 / 11</a:t>
            </a:r>
            <a:endParaRPr lang="en-US" sz="1000" dirty="0"/>
          </a:p>
        </p:txBody>
      </p:sp>
      <p:sp>
        <p:nvSpPr>
          <p:cNvPr id="7" name="Text 4"/>
          <p:cNvSpPr txBox="1"/>
          <p:nvPr/>
        </p:nvSpPr>
        <p:spPr>
          <a:xfrm>
            <a:off x="640080" y="914400"/>
            <a:ext cx="10911535" cy="1188720"/>
          </a:xfrm>
          <a:prstGeom prst="rect">
            <a:avLst/>
          </a:prstGeom>
          <a:noFill/>
          <a:ln/>
        </p:spPr>
        <p:txBody>
          <a:bodyPr wrap="square" lIns="0" tIns="0" rIns="0" bIns="0" rtlCol="0" anchor="t"/>
          <a:lstStyle/>
          <a:p>
            <a:pPr indent="0" marL="0">
              <a:buNone/>
            </a:pPr>
            <a:r>
              <a:rPr lang="en-US" sz="3200" b="1" dirty="0">
                <a:solidFill>
                  <a:srgbClr val="15130F"/>
                </a:solidFill>
                <a:latin typeface="Cambria" pitchFamily="34" charset="0"/>
                <a:ea typeface="Cambria" pitchFamily="34" charset="-122"/>
                <a:cs typeface="Cambria" pitchFamily="34" charset="-120"/>
              </a:rPr>
              <a:t>The result: notes in your own words,</a:t>
            </a:r>
            <a:endParaRPr lang="en-US" sz="3200" dirty="0"/>
          </a:p>
          <a:p>
            <a:pPr indent="0" marL="0">
              <a:buNone/>
            </a:pPr>
            <a:r>
              <a:rPr lang="en-US" sz="3200" b="1" dirty="0">
                <a:solidFill>
                  <a:srgbClr val="15130F"/>
                </a:solidFill>
                <a:latin typeface="Cambria" pitchFamily="34" charset="0"/>
                <a:ea typeface="Cambria" pitchFamily="34" charset="-122"/>
                <a:cs typeface="Cambria" pitchFamily="34" charset="-120"/>
              </a:rPr>
              <a:t>with your gaps marked</a:t>
            </a:r>
            <a:endParaRPr lang="en-US" sz="3200" dirty="0"/>
          </a:p>
        </p:txBody>
      </p:sp>
      <p:sp>
        <p:nvSpPr>
          <p:cNvPr id="8" name="Shape 5"/>
          <p:cNvSpPr/>
          <p:nvPr/>
        </p:nvSpPr>
        <p:spPr>
          <a:xfrm>
            <a:off x="585216" y="2505456"/>
            <a:ext cx="3065556" cy="2761488"/>
          </a:xfrm>
          <a:prstGeom prst="roundRect">
            <a:avLst>
              <a:gd name="adj" fmla="val 3311"/>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pic>
        <p:nvPicPr>
          <p:cNvPr id="9" name="Image 1" descr="Progress dashboard with chapters finished and mastery">    </p:cNvPr>
          <p:cNvPicPr>
            <a:picLocks noChangeAspect="1"/>
          </p:cNvPicPr>
          <p:nvPr/>
        </p:nvPicPr>
        <p:blipFill>
          <a:blip r:embed="rId2"/>
          <a:srcRect l="0" r="0" t="0" b="0"/>
          <a:stretch/>
        </p:blipFill>
        <p:spPr>
          <a:xfrm>
            <a:off x="640080" y="2560320"/>
            <a:ext cx="2955828" cy="2651760"/>
          </a:xfrm>
          <a:prstGeom prst="rect">
            <a:avLst/>
          </a:prstGeom>
        </p:spPr>
      </p:pic>
      <p:sp>
        <p:nvSpPr>
          <p:cNvPr id="10" name="Shape 6"/>
          <p:cNvSpPr/>
          <p:nvPr/>
        </p:nvSpPr>
        <p:spPr>
          <a:xfrm>
            <a:off x="3906804" y="2185416"/>
            <a:ext cx="4731544" cy="3401568"/>
          </a:xfrm>
          <a:prstGeom prst="roundRect">
            <a:avLst>
              <a:gd name="adj" fmla="val 2688"/>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pic>
        <p:nvPicPr>
          <p:cNvPr id="11" name="Image 2" descr="Personalised study notes with PDF download">    </p:cNvPr>
          <p:cNvPicPr>
            <a:picLocks noChangeAspect="1"/>
          </p:cNvPicPr>
          <p:nvPr/>
        </p:nvPicPr>
        <p:blipFill>
          <a:blip r:embed="rId3"/>
          <a:srcRect l="0" r="0" t="0" b="0"/>
          <a:stretch/>
        </p:blipFill>
        <p:spPr>
          <a:xfrm>
            <a:off x="3961668" y="2240280"/>
            <a:ext cx="4621816" cy="3291840"/>
          </a:xfrm>
          <a:prstGeom prst="rect">
            <a:avLst/>
          </a:prstGeom>
        </p:spPr>
      </p:pic>
      <p:sp>
        <p:nvSpPr>
          <p:cNvPr id="12" name="Text 7"/>
          <p:cNvSpPr txBox="1"/>
          <p:nvPr/>
        </p:nvSpPr>
        <p:spPr>
          <a:xfrm>
            <a:off x="8994964" y="2240280"/>
            <a:ext cx="2556651" cy="3291840"/>
          </a:xfrm>
          <a:prstGeom prst="rect">
            <a:avLst/>
          </a:prstGeom>
          <a:noFill/>
          <a:ln/>
        </p:spPr>
        <p:txBody>
          <a:bodyPr wrap="square" lIns="0" tIns="0" rIns="0" bIns="0" rtlCol="0" anchor="ctr"/>
          <a:lstStyle/>
          <a:p>
            <a:pPr indent="0" marL="0">
              <a:buNone/>
            </a:pPr>
            <a:r>
              <a:rPr lang="en-US" sz="2800" b="1" i="1" dirty="0">
                <a:solidFill>
                  <a:srgbClr val="BA300F"/>
                </a:solidFill>
                <a:latin typeface="Cambria" pitchFamily="34" charset="0"/>
                <a:ea typeface="Cambria" pitchFamily="34" charset="-122"/>
                <a:cs typeface="Cambria" pitchFamily="34" charset="-120"/>
              </a:rPr>
              <a:t>Your words.</a:t>
            </a:r>
            <a:endParaRPr lang="en-US" sz="2800" dirty="0"/>
          </a:p>
          <a:p>
            <a:pPr indent="0" marL="0">
              <a:buNone/>
            </a:pPr>
            <a:r>
              <a:rPr lang="en-US" sz="2800" b="1" i="1" dirty="0">
                <a:solidFill>
                  <a:srgbClr val="BA300F"/>
                </a:solidFill>
                <a:latin typeface="Cambria" pitchFamily="34" charset="0"/>
                <a:ea typeface="Cambria" pitchFamily="34" charset="-122"/>
                <a:cs typeface="Cambria" pitchFamily="34" charset="-120"/>
              </a:rPr>
              <a:t>Your gaps.</a:t>
            </a:r>
            <a:endParaRPr lang="en-US" sz="2800" dirty="0"/>
          </a:p>
          <a:p>
            <a:pPr indent="0" marL="0">
              <a:buNone/>
            </a:pPr>
            <a:r>
              <a:rPr lang="en-US" sz="2800" b="1" i="1" dirty="0">
                <a:solidFill>
                  <a:srgbClr val="BA300F"/>
                </a:solidFill>
                <a:latin typeface="Cambria" pitchFamily="34" charset="0"/>
                <a:ea typeface="Cambria" pitchFamily="34" charset="-122"/>
                <a:cs typeface="Cambria" pitchFamily="34" charset="-120"/>
              </a:rPr>
              <a:t>Your next step.</a:t>
            </a:r>
            <a:endParaRPr lang="en-US" sz="2800" dirty="0"/>
          </a:p>
        </p:txBody>
      </p:sp>
      <p:sp>
        <p:nvSpPr>
          <p:cNvPr id="13" name="Text 8"/>
          <p:cNvSpPr txBox="1"/>
          <p:nvPr/>
        </p:nvSpPr>
        <p:spPr>
          <a:xfrm>
            <a:off x="640080" y="5760720"/>
            <a:ext cx="9631375" cy="640080"/>
          </a:xfrm>
          <a:prstGeom prst="rect">
            <a:avLst/>
          </a:prstGeom>
          <a:noFill/>
          <a:ln/>
        </p:spPr>
        <p:txBody>
          <a:bodyPr wrap="square" lIns="0" tIns="0" rIns="0" bIns="0" rtlCol="0" anchor="t"/>
          <a:lstStyle/>
          <a:p>
            <a:pPr indent="0" marL="0">
              <a:buNone/>
            </a:pPr>
            <a:r>
              <a:rPr lang="en-US" sz="1600" dirty="0">
                <a:solidFill>
                  <a:srgbClr val="15130F"/>
                </a:solidFill>
                <a:latin typeface="Calibri" pitchFamily="34" charset="0"/>
                <a:ea typeface="Calibri" pitchFamily="34" charset="-122"/>
                <a:cs typeface="Calibri" pitchFamily="34" charset="-120"/>
              </a:rPr>
              <a:t>Built from the student's own answers, polished for grammar, with a Concepts to Revisit list for every misconception. Exported as a themed PDF.</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VIABILITY</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8 / 11</a:t>
            </a:r>
            <a:endParaRPr lang="en-US" sz="1000" dirty="0"/>
          </a:p>
        </p:txBody>
      </p:sp>
      <p:sp>
        <p:nvSpPr>
          <p:cNvPr id="7" name="Text 4"/>
          <p:cNvSpPr txBox="1"/>
          <p:nvPr/>
        </p:nvSpPr>
        <p:spPr>
          <a:xfrm>
            <a:off x="640080" y="914400"/>
            <a:ext cx="10911535" cy="731520"/>
          </a:xfrm>
          <a:prstGeom prst="rect">
            <a:avLst/>
          </a:prstGeom>
          <a:noFill/>
          <a:ln/>
        </p:spPr>
        <p:txBody>
          <a:bodyPr wrap="square" lIns="0" tIns="0" rIns="0" bIns="0" rtlCol="0" anchor="t"/>
          <a:lstStyle/>
          <a:p>
            <a:pPr indent="0" marL="0">
              <a:buNone/>
            </a:pPr>
            <a:r>
              <a:rPr lang="en-US" sz="3400" b="1" dirty="0">
                <a:solidFill>
                  <a:srgbClr val="15130F"/>
                </a:solidFill>
                <a:latin typeface="Cambria" pitchFamily="34" charset="0"/>
                <a:ea typeface="Cambria" pitchFamily="34" charset="-122"/>
                <a:cs typeface="Cambria" pitchFamily="34" charset="-120"/>
              </a:rPr>
              <a:t>Built to keep working in the real world</a:t>
            </a:r>
            <a:endParaRPr lang="en-US" sz="3400" dirty="0"/>
          </a:p>
        </p:txBody>
      </p:sp>
      <p:sp>
        <p:nvSpPr>
          <p:cNvPr id="8" name="Shape 5"/>
          <p:cNvSpPr/>
          <p:nvPr/>
        </p:nvSpPr>
        <p:spPr>
          <a:xfrm>
            <a:off x="640080" y="1828800"/>
            <a:ext cx="2926080" cy="1371600"/>
          </a:xfrm>
          <a:prstGeom prst="roundRect">
            <a:avLst>
              <a:gd name="adj" fmla="val 8000"/>
            </a:avLst>
          </a:prstGeom>
          <a:solidFill>
            <a:srgbClr val="FFFFFF"/>
          </a:solidFill>
          <a:ln w="15240">
            <a:solidFill>
              <a:srgbClr val="E5E2DD"/>
            </a:solidFill>
            <a:prstDash val="solid"/>
          </a:ln>
          <a:effectLst>
            <a:outerShdw sx="100000" sy="100000" kx="0" ky="0" algn="bl" rotWithShape="0" blurRad="127000" dist="25400" dir="5400000">
              <a:srgbClr val="000000">
                <a:alpha val="12000"/>
              </a:srgbClr>
            </a:outerShdw>
          </a:effectLst>
        </p:spPr>
      </p:sp>
      <p:sp>
        <p:nvSpPr>
          <p:cNvPr id="9" name="Text 6"/>
          <p:cNvSpPr txBox="1"/>
          <p:nvPr/>
        </p:nvSpPr>
        <p:spPr>
          <a:xfrm>
            <a:off x="777240" y="1828800"/>
            <a:ext cx="2651760" cy="1371600"/>
          </a:xfrm>
          <a:prstGeom prst="rect">
            <a:avLst/>
          </a:prstGeom>
          <a:noFill/>
          <a:ln/>
        </p:spPr>
        <p:txBody>
          <a:bodyPr wrap="square" lIns="0" tIns="0" rIns="0" bIns="0" rtlCol="0" anchor="ctr"/>
          <a:lstStyle/>
          <a:p>
            <a:pPr algn="ctr" indent="0" marL="0">
              <a:buNone/>
            </a:pPr>
            <a:r>
              <a:rPr lang="en-US" sz="1800" b="1" dirty="0">
                <a:solidFill>
                  <a:srgbClr val="15130F"/>
                </a:solidFill>
                <a:latin typeface="Cambria" pitchFamily="34" charset="0"/>
                <a:ea typeface="Cambria" pitchFamily="34" charset="-122"/>
                <a:cs typeface="Cambria" pitchFamily="34" charset="-120"/>
              </a:rPr>
              <a:t>Learner's browser</a:t>
            </a:r>
            <a:endParaRPr lang="en-US" sz="1800" dirty="0"/>
          </a:p>
          <a:p>
            <a:pPr algn="ctr" indent="0" marL="0">
              <a:buNone/>
            </a:pPr>
            <a:r>
              <a:rPr lang="en-US" sz="1400" dirty="0">
                <a:solidFill>
                  <a:srgbClr val="57534A"/>
                </a:solidFill>
                <a:latin typeface="Calibri" pitchFamily="34" charset="0"/>
                <a:ea typeface="Calibri" pitchFamily="34" charset="-122"/>
                <a:cs typeface="Calibri" pitchFamily="34" charset="-120"/>
              </a:rPr>
              <a:t>React 19, Vite, Tailwind</a:t>
            </a:r>
            <a:endParaRPr lang="en-US" sz="1800" dirty="0"/>
          </a:p>
          <a:p>
            <a:pPr algn="ctr" indent="0" marL="0">
              <a:buNone/>
            </a:pPr>
            <a:r>
              <a:rPr lang="en-US" sz="1400" dirty="0">
                <a:solidFill>
                  <a:srgbClr val="57534A"/>
                </a:solidFill>
                <a:latin typeface="Calibri" pitchFamily="34" charset="0"/>
                <a:ea typeface="Calibri" pitchFamily="34" charset="-122"/>
                <a:cs typeface="Calibri" pitchFamily="34" charset="-120"/>
              </a:rPr>
              <a:t>Live on Vercel</a:t>
            </a:r>
            <a:endParaRPr lang="en-US" sz="1800" dirty="0"/>
          </a:p>
        </p:txBody>
      </p:sp>
      <p:sp>
        <p:nvSpPr>
          <p:cNvPr id="10" name="Shape 7"/>
          <p:cNvSpPr/>
          <p:nvPr/>
        </p:nvSpPr>
        <p:spPr>
          <a:xfrm>
            <a:off x="4343400" y="1828800"/>
            <a:ext cx="3200400" cy="1371600"/>
          </a:xfrm>
          <a:prstGeom prst="roundRect">
            <a:avLst>
              <a:gd name="adj" fmla="val 8000"/>
            </a:avLst>
          </a:prstGeom>
          <a:solidFill>
            <a:srgbClr val="FFF1EA"/>
          </a:solidFill>
          <a:ln w="15240">
            <a:solidFill>
              <a:srgbClr val="FF4D1F"/>
            </a:solidFill>
            <a:prstDash val="solid"/>
          </a:ln>
          <a:effectLst>
            <a:outerShdw sx="100000" sy="100000" kx="0" ky="0" algn="bl" rotWithShape="0" blurRad="127000" dist="25400" dir="5400000">
              <a:srgbClr val="000000">
                <a:alpha val="12000"/>
              </a:srgbClr>
            </a:outerShdw>
          </a:effectLst>
        </p:spPr>
      </p:sp>
      <p:sp>
        <p:nvSpPr>
          <p:cNvPr id="11" name="Text 8"/>
          <p:cNvSpPr txBox="1"/>
          <p:nvPr/>
        </p:nvSpPr>
        <p:spPr>
          <a:xfrm>
            <a:off x="4480560" y="1828800"/>
            <a:ext cx="2926080" cy="1371600"/>
          </a:xfrm>
          <a:prstGeom prst="rect">
            <a:avLst/>
          </a:prstGeom>
          <a:noFill/>
          <a:ln/>
        </p:spPr>
        <p:txBody>
          <a:bodyPr wrap="square" lIns="0" tIns="0" rIns="0" bIns="0" rtlCol="0" anchor="ctr"/>
          <a:lstStyle/>
          <a:p>
            <a:pPr algn="ctr" indent="0" marL="0">
              <a:buNone/>
            </a:pPr>
            <a:r>
              <a:rPr lang="en-US" sz="1800" b="1" dirty="0">
                <a:solidFill>
                  <a:srgbClr val="15130F"/>
                </a:solidFill>
                <a:latin typeface="Cambria" pitchFamily="34" charset="0"/>
                <a:ea typeface="Cambria" pitchFamily="34" charset="-122"/>
                <a:cs typeface="Cambria" pitchFamily="34" charset="-120"/>
              </a:rPr>
              <a:t>FastAPI backend</a:t>
            </a:r>
            <a:endParaRPr lang="en-US" sz="1800" dirty="0"/>
          </a:p>
          <a:p>
            <a:pPr algn="ctr" indent="0" marL="0">
              <a:buNone/>
            </a:pPr>
            <a:r>
              <a:rPr lang="en-US" sz="1400" dirty="0">
                <a:solidFill>
                  <a:srgbClr val="57534A"/>
                </a:solidFill>
                <a:latin typeface="Calibri" pitchFamily="34" charset="0"/>
                <a:ea typeface="Calibri" pitchFamily="34" charset="-122"/>
                <a:cs typeface="Calibri" pitchFamily="34" charset="-120"/>
              </a:rPr>
              <a:t>Transcripts, chaptering, grading,</a:t>
            </a:r>
            <a:endParaRPr lang="en-US" sz="1800" dirty="0"/>
          </a:p>
          <a:p>
            <a:pPr algn="ctr" indent="0" marL="0">
              <a:buNone/>
            </a:pPr>
            <a:r>
              <a:rPr lang="en-US" sz="1400" dirty="0">
                <a:solidFill>
                  <a:srgbClr val="57534A"/>
                </a:solidFill>
                <a:latin typeface="Calibri" pitchFamily="34" charset="0"/>
                <a:ea typeface="Calibri" pitchFamily="34" charset="-122"/>
                <a:cs typeface="Calibri" pitchFamily="34" charset="-120"/>
              </a:rPr>
              <a:t>vision, notes + PDF</a:t>
            </a:r>
            <a:endParaRPr lang="en-US" sz="1800" dirty="0"/>
          </a:p>
        </p:txBody>
      </p:sp>
      <p:sp>
        <p:nvSpPr>
          <p:cNvPr id="12" name="Shape 9"/>
          <p:cNvSpPr/>
          <p:nvPr/>
        </p:nvSpPr>
        <p:spPr>
          <a:xfrm>
            <a:off x="8945575" y="1600200"/>
            <a:ext cx="2606040" cy="914400"/>
          </a:xfrm>
          <a:prstGeom prst="roundRect">
            <a:avLst>
              <a:gd name="adj" fmla="val 12000"/>
            </a:avLst>
          </a:prstGeom>
          <a:solidFill>
            <a:srgbClr val="FFFFFF"/>
          </a:solidFill>
          <a:ln w="15240">
            <a:solidFill>
              <a:srgbClr val="E5E2DD"/>
            </a:solidFill>
            <a:prstDash val="solid"/>
          </a:ln>
          <a:effectLst>
            <a:outerShdw sx="100000" sy="100000" kx="0" ky="0" algn="bl" rotWithShape="0" blurRad="127000" dist="25400" dir="5400000">
              <a:srgbClr val="000000">
                <a:alpha val="12000"/>
              </a:srgbClr>
            </a:outerShdw>
          </a:effectLst>
        </p:spPr>
      </p:sp>
      <p:sp>
        <p:nvSpPr>
          <p:cNvPr id="13" name="Text 10"/>
          <p:cNvSpPr txBox="1"/>
          <p:nvPr/>
        </p:nvSpPr>
        <p:spPr>
          <a:xfrm>
            <a:off x="9082735" y="1600200"/>
            <a:ext cx="2331720" cy="914400"/>
          </a:xfrm>
          <a:prstGeom prst="rect">
            <a:avLst/>
          </a:prstGeom>
          <a:noFill/>
          <a:ln/>
        </p:spPr>
        <p:txBody>
          <a:bodyPr wrap="square" lIns="0" tIns="0" rIns="0" bIns="0" rtlCol="0" anchor="ctr"/>
          <a:lstStyle/>
          <a:p>
            <a:pPr algn="ctr" indent="0" marL="0">
              <a:buNone/>
            </a:pPr>
            <a:r>
              <a:rPr lang="en-US" sz="1800" b="1" dirty="0">
                <a:solidFill>
                  <a:srgbClr val="15130F"/>
                </a:solidFill>
                <a:latin typeface="Cambria" pitchFamily="34" charset="0"/>
                <a:ea typeface="Cambria" pitchFamily="34" charset="-122"/>
                <a:cs typeface="Cambria" pitchFamily="34" charset="-120"/>
              </a:rPr>
              <a:t>Gemini models</a:t>
            </a:r>
            <a:endParaRPr lang="en-US" sz="1800" dirty="0"/>
          </a:p>
          <a:p>
            <a:pPr algn="ctr" indent="0" marL="0">
              <a:buNone/>
            </a:pPr>
            <a:r>
              <a:rPr lang="en-US" sz="1400" dirty="0">
                <a:solidFill>
                  <a:srgbClr val="57534A"/>
                </a:solidFill>
                <a:latin typeface="Calibri" pitchFamily="34" charset="0"/>
                <a:ea typeface="Calibri" pitchFamily="34" charset="-122"/>
                <a:cs typeface="Calibri" pitchFamily="34" charset="-120"/>
              </a:rPr>
              <a:t>Fallback chain of 3</a:t>
            </a:r>
            <a:endParaRPr lang="en-US" sz="1800" dirty="0"/>
          </a:p>
        </p:txBody>
      </p:sp>
      <p:sp>
        <p:nvSpPr>
          <p:cNvPr id="14" name="Shape 11"/>
          <p:cNvSpPr/>
          <p:nvPr/>
        </p:nvSpPr>
        <p:spPr>
          <a:xfrm>
            <a:off x="8945575" y="2743200"/>
            <a:ext cx="2606040" cy="914400"/>
          </a:xfrm>
          <a:prstGeom prst="roundRect">
            <a:avLst>
              <a:gd name="adj" fmla="val 12000"/>
            </a:avLst>
          </a:prstGeom>
          <a:solidFill>
            <a:srgbClr val="FFFFFF"/>
          </a:solidFill>
          <a:ln w="15240">
            <a:solidFill>
              <a:srgbClr val="E5E2DD"/>
            </a:solidFill>
            <a:prstDash val="solid"/>
          </a:ln>
          <a:effectLst>
            <a:outerShdw sx="100000" sy="100000" kx="0" ky="0" algn="bl" rotWithShape="0" blurRad="127000" dist="25400" dir="5400000">
              <a:srgbClr val="000000">
                <a:alpha val="12000"/>
              </a:srgbClr>
            </a:outerShdw>
          </a:effectLst>
        </p:spPr>
      </p:sp>
      <p:sp>
        <p:nvSpPr>
          <p:cNvPr id="15" name="Text 12"/>
          <p:cNvSpPr txBox="1"/>
          <p:nvPr/>
        </p:nvSpPr>
        <p:spPr>
          <a:xfrm>
            <a:off x="9082735" y="2743200"/>
            <a:ext cx="2331720" cy="914400"/>
          </a:xfrm>
          <a:prstGeom prst="rect">
            <a:avLst/>
          </a:prstGeom>
          <a:noFill/>
          <a:ln/>
        </p:spPr>
        <p:txBody>
          <a:bodyPr wrap="square" lIns="0" tIns="0" rIns="0" bIns="0" rtlCol="0" anchor="ctr"/>
          <a:lstStyle/>
          <a:p>
            <a:pPr algn="ctr" indent="0" marL="0">
              <a:buNone/>
            </a:pPr>
            <a:r>
              <a:rPr lang="en-US" sz="1800" b="1" dirty="0">
                <a:solidFill>
                  <a:srgbClr val="15130F"/>
                </a:solidFill>
                <a:latin typeface="Cambria" pitchFamily="34" charset="0"/>
                <a:ea typeface="Cambria" pitchFamily="34" charset="-122"/>
                <a:cs typeface="Cambria" pitchFamily="34" charset="-120"/>
              </a:rPr>
              <a:t>YouTube</a:t>
            </a:r>
            <a:endParaRPr lang="en-US" sz="1800" dirty="0"/>
          </a:p>
          <a:p>
            <a:pPr algn="ctr" indent="0" marL="0">
              <a:buNone/>
            </a:pPr>
            <a:r>
              <a:rPr lang="en-US" sz="1400" dirty="0">
                <a:solidFill>
                  <a:srgbClr val="57534A"/>
                </a:solidFill>
                <a:latin typeface="Calibri" pitchFamily="34" charset="0"/>
                <a:ea typeface="Calibri" pitchFamily="34" charset="-122"/>
                <a:cs typeface="Calibri" pitchFamily="34" charset="-120"/>
              </a:rPr>
              <a:t>Captions, frames</a:t>
            </a:r>
            <a:endParaRPr lang="en-US" sz="1800" dirty="0"/>
          </a:p>
        </p:txBody>
      </p:sp>
      <p:sp>
        <p:nvSpPr>
          <p:cNvPr id="16" name="Shape 13"/>
          <p:cNvSpPr/>
          <p:nvPr/>
        </p:nvSpPr>
        <p:spPr>
          <a:xfrm>
            <a:off x="3566160" y="2514600"/>
            <a:ext cx="777240" cy="0"/>
          </a:xfrm>
          <a:prstGeom prst="line">
            <a:avLst/>
          </a:prstGeom>
          <a:noFill/>
          <a:ln w="25400">
            <a:solidFill>
              <a:srgbClr val="BA300F"/>
            </a:solidFill>
            <a:prstDash val="solid"/>
            <a:tailEnd type="triangle"/>
          </a:ln>
        </p:spPr>
      </p:sp>
      <p:sp>
        <p:nvSpPr>
          <p:cNvPr id="17" name="Shape 14"/>
          <p:cNvSpPr/>
          <p:nvPr/>
        </p:nvSpPr>
        <p:spPr>
          <a:xfrm flipV="1">
            <a:off x="7543800" y="2057400"/>
            <a:ext cx="1401775" cy="228600"/>
          </a:xfrm>
          <a:prstGeom prst="line">
            <a:avLst/>
          </a:prstGeom>
          <a:noFill/>
          <a:ln w="25400">
            <a:solidFill>
              <a:srgbClr val="BA300F"/>
            </a:solidFill>
            <a:prstDash val="solid"/>
            <a:tailEnd type="triangle"/>
          </a:ln>
        </p:spPr>
      </p:sp>
      <p:sp>
        <p:nvSpPr>
          <p:cNvPr id="18" name="Shape 15"/>
          <p:cNvSpPr/>
          <p:nvPr/>
        </p:nvSpPr>
        <p:spPr>
          <a:xfrm>
            <a:off x="7543800" y="2743200"/>
            <a:ext cx="1401775" cy="457200"/>
          </a:xfrm>
          <a:prstGeom prst="line">
            <a:avLst/>
          </a:prstGeom>
          <a:noFill/>
          <a:ln w="25400">
            <a:solidFill>
              <a:srgbClr val="BA300F"/>
            </a:solidFill>
            <a:prstDash val="solid"/>
            <a:tailEnd type="triangle"/>
          </a:ln>
        </p:spPr>
      </p:sp>
      <p:sp>
        <p:nvSpPr>
          <p:cNvPr id="19" name="Shape 16"/>
          <p:cNvSpPr/>
          <p:nvPr/>
        </p:nvSpPr>
        <p:spPr>
          <a:xfrm>
            <a:off x="640080" y="4023360"/>
            <a:ext cx="2590724" cy="1828800"/>
          </a:xfrm>
          <a:prstGeom prst="roundRect">
            <a:avLst>
              <a:gd name="adj" fmla="val 6000"/>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20" name="Text 17"/>
          <p:cNvSpPr txBox="1"/>
          <p:nvPr/>
        </p:nvSpPr>
        <p:spPr>
          <a:xfrm>
            <a:off x="822960" y="4160520"/>
            <a:ext cx="2224964" cy="457200"/>
          </a:xfrm>
          <a:prstGeom prst="rect">
            <a:avLst/>
          </a:prstGeom>
          <a:noFill/>
          <a:ln/>
        </p:spPr>
        <p:txBody>
          <a:bodyPr wrap="square" lIns="0" tIns="0" rIns="0" bIns="0" rtlCol="0" anchor="ctr"/>
          <a:lstStyle/>
          <a:p>
            <a:pPr indent="0" marL="0">
              <a:buNone/>
            </a:pPr>
            <a:r>
              <a:rPr lang="en-US" sz="1800" b="1" dirty="0">
                <a:solidFill>
                  <a:srgbClr val="BA300F"/>
                </a:solidFill>
                <a:latin typeface="Cambria" pitchFamily="34" charset="0"/>
                <a:ea typeface="Cambria" pitchFamily="34" charset="-122"/>
                <a:cs typeface="Cambria" pitchFamily="34" charset="-120"/>
              </a:rPr>
              <a:t>Always works</a:t>
            </a:r>
            <a:endParaRPr lang="en-US" sz="1800" dirty="0"/>
          </a:p>
        </p:txBody>
      </p:sp>
      <p:sp>
        <p:nvSpPr>
          <p:cNvPr id="21" name="Text 18"/>
          <p:cNvSpPr txBox="1"/>
          <p:nvPr/>
        </p:nvSpPr>
        <p:spPr>
          <a:xfrm>
            <a:off x="822960" y="4663440"/>
            <a:ext cx="2224964" cy="1097280"/>
          </a:xfrm>
          <a:prstGeom prst="rect">
            <a:avLst/>
          </a:prstGeom>
          <a:noFill/>
          <a:ln/>
        </p:spPr>
        <p:txBody>
          <a:bodyPr wrap="square" lIns="0" tIns="0" rIns="0" bIns="0" rtlCol="0" anchor="t"/>
          <a:lstStyle/>
          <a:p>
            <a:pPr indent="0" marL="0">
              <a:buNone/>
            </a:pPr>
            <a:r>
              <a:rPr lang="en-US" sz="1400" dirty="0">
                <a:solidFill>
                  <a:srgbClr val="15130F"/>
                </a:solidFill>
                <a:latin typeface="Calibri" pitchFamily="34" charset="0"/>
                <a:ea typeface="Calibri" pitchFamily="34" charset="-122"/>
                <a:cs typeface="Calibri" pitchFamily="34" charset="-120"/>
              </a:rPr>
              <a:t>If Gemini fails, heuristic fallbacks still chapter, grade, and write notes.</a:t>
            </a:r>
            <a:endParaRPr lang="en-US" sz="1400" dirty="0"/>
          </a:p>
        </p:txBody>
      </p:sp>
      <p:sp>
        <p:nvSpPr>
          <p:cNvPr id="22" name="Shape 19"/>
          <p:cNvSpPr/>
          <p:nvPr/>
        </p:nvSpPr>
        <p:spPr>
          <a:xfrm>
            <a:off x="3413684" y="4023360"/>
            <a:ext cx="2590724" cy="1828800"/>
          </a:xfrm>
          <a:prstGeom prst="roundRect">
            <a:avLst>
              <a:gd name="adj" fmla="val 6000"/>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23" name="Text 20"/>
          <p:cNvSpPr txBox="1"/>
          <p:nvPr/>
        </p:nvSpPr>
        <p:spPr>
          <a:xfrm>
            <a:off x="3596564" y="4160520"/>
            <a:ext cx="2224964" cy="457200"/>
          </a:xfrm>
          <a:prstGeom prst="rect">
            <a:avLst/>
          </a:prstGeom>
          <a:noFill/>
          <a:ln/>
        </p:spPr>
        <p:txBody>
          <a:bodyPr wrap="square" lIns="0" tIns="0" rIns="0" bIns="0" rtlCol="0" anchor="ctr"/>
          <a:lstStyle/>
          <a:p>
            <a:pPr indent="0" marL="0">
              <a:buNone/>
            </a:pPr>
            <a:r>
              <a:rPr lang="en-US" sz="1800" b="1" dirty="0">
                <a:solidFill>
                  <a:srgbClr val="BA300F"/>
                </a:solidFill>
                <a:latin typeface="Cambria" pitchFamily="34" charset="0"/>
                <a:ea typeface="Cambria" pitchFamily="34" charset="-122"/>
                <a:cs typeface="Cambria" pitchFamily="34" charset="-120"/>
              </a:rPr>
              <a:t>No accounts needed</a:t>
            </a:r>
            <a:endParaRPr lang="en-US" sz="1800" dirty="0"/>
          </a:p>
        </p:txBody>
      </p:sp>
      <p:sp>
        <p:nvSpPr>
          <p:cNvPr id="24" name="Text 21"/>
          <p:cNvSpPr txBox="1"/>
          <p:nvPr/>
        </p:nvSpPr>
        <p:spPr>
          <a:xfrm>
            <a:off x="3596564" y="4663440"/>
            <a:ext cx="2224964" cy="1097280"/>
          </a:xfrm>
          <a:prstGeom prst="rect">
            <a:avLst/>
          </a:prstGeom>
          <a:noFill/>
          <a:ln/>
        </p:spPr>
        <p:txBody>
          <a:bodyPr wrap="square" lIns="0" tIns="0" rIns="0" bIns="0" rtlCol="0" anchor="t"/>
          <a:lstStyle/>
          <a:p>
            <a:pPr indent="0" marL="0">
              <a:buNone/>
            </a:pPr>
            <a:r>
              <a:rPr lang="en-US" sz="1400" dirty="0">
                <a:solidFill>
                  <a:srgbClr val="15130F"/>
                </a:solidFill>
                <a:latin typeface="Calibri" pitchFamily="34" charset="0"/>
                <a:ea typeface="Calibri" pitchFamily="34" charset="-122"/>
                <a:cs typeface="Calibri" pitchFamily="34" charset="-120"/>
              </a:rPr>
              <a:t>Stateless backend. Session resume lives in the browser.</a:t>
            </a:r>
            <a:endParaRPr lang="en-US" sz="1400" dirty="0"/>
          </a:p>
        </p:txBody>
      </p:sp>
      <p:sp>
        <p:nvSpPr>
          <p:cNvPr id="25" name="Shape 22"/>
          <p:cNvSpPr/>
          <p:nvPr/>
        </p:nvSpPr>
        <p:spPr>
          <a:xfrm>
            <a:off x="6187288" y="4023360"/>
            <a:ext cx="2590724" cy="1828800"/>
          </a:xfrm>
          <a:prstGeom prst="roundRect">
            <a:avLst>
              <a:gd name="adj" fmla="val 6000"/>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26" name="Text 23"/>
          <p:cNvSpPr txBox="1"/>
          <p:nvPr/>
        </p:nvSpPr>
        <p:spPr>
          <a:xfrm>
            <a:off x="6370168" y="4160520"/>
            <a:ext cx="2224964" cy="457200"/>
          </a:xfrm>
          <a:prstGeom prst="rect">
            <a:avLst/>
          </a:prstGeom>
          <a:noFill/>
          <a:ln/>
        </p:spPr>
        <p:txBody>
          <a:bodyPr wrap="square" lIns="0" tIns="0" rIns="0" bIns="0" rtlCol="0" anchor="ctr"/>
          <a:lstStyle/>
          <a:p>
            <a:pPr indent="0" marL="0">
              <a:buNone/>
            </a:pPr>
            <a:r>
              <a:rPr lang="en-US" sz="1800" b="1" dirty="0">
                <a:solidFill>
                  <a:srgbClr val="BA300F"/>
                </a:solidFill>
                <a:latin typeface="Cambria" pitchFamily="34" charset="0"/>
                <a:ea typeface="Cambria" pitchFamily="34" charset="-122"/>
                <a:cs typeface="Cambria" pitchFamily="34" charset="-120"/>
              </a:rPr>
              <a:t>Bring your own key</a:t>
            </a:r>
            <a:endParaRPr lang="en-US" sz="1800" dirty="0"/>
          </a:p>
        </p:txBody>
      </p:sp>
      <p:sp>
        <p:nvSpPr>
          <p:cNvPr id="27" name="Text 24"/>
          <p:cNvSpPr txBox="1"/>
          <p:nvPr/>
        </p:nvSpPr>
        <p:spPr>
          <a:xfrm>
            <a:off x="6370168" y="4663440"/>
            <a:ext cx="2224964" cy="1097280"/>
          </a:xfrm>
          <a:prstGeom prst="rect">
            <a:avLst/>
          </a:prstGeom>
          <a:noFill/>
          <a:ln/>
        </p:spPr>
        <p:txBody>
          <a:bodyPr wrap="square" lIns="0" tIns="0" rIns="0" bIns="0" rtlCol="0" anchor="t"/>
          <a:lstStyle/>
          <a:p>
            <a:pPr indent="0" marL="0">
              <a:buNone/>
            </a:pPr>
            <a:r>
              <a:rPr lang="en-US" sz="1400" dirty="0">
                <a:solidFill>
                  <a:srgbClr val="15130F"/>
                </a:solidFill>
                <a:latin typeface="Calibri" pitchFamily="34" charset="0"/>
                <a:ea typeface="Calibri" pitchFamily="34" charset="-122"/>
                <a:cs typeface="Calibri" pitchFamily="34" charset="-120"/>
              </a:rPr>
              <a:t>Users can supply a free Gemini key per session.</a:t>
            </a:r>
            <a:endParaRPr lang="en-US" sz="1400" dirty="0"/>
          </a:p>
        </p:txBody>
      </p:sp>
      <p:sp>
        <p:nvSpPr>
          <p:cNvPr id="28" name="Shape 25"/>
          <p:cNvSpPr/>
          <p:nvPr/>
        </p:nvSpPr>
        <p:spPr>
          <a:xfrm>
            <a:off x="8960891" y="4023360"/>
            <a:ext cx="2590724" cy="1828800"/>
          </a:xfrm>
          <a:prstGeom prst="roundRect">
            <a:avLst>
              <a:gd name="adj" fmla="val 6000"/>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29" name="Text 26"/>
          <p:cNvSpPr txBox="1"/>
          <p:nvPr/>
        </p:nvSpPr>
        <p:spPr>
          <a:xfrm>
            <a:off x="9143771" y="4160520"/>
            <a:ext cx="2224964" cy="457200"/>
          </a:xfrm>
          <a:prstGeom prst="rect">
            <a:avLst/>
          </a:prstGeom>
          <a:noFill/>
          <a:ln/>
        </p:spPr>
        <p:txBody>
          <a:bodyPr wrap="square" lIns="0" tIns="0" rIns="0" bIns="0" rtlCol="0" anchor="ctr"/>
          <a:lstStyle/>
          <a:p>
            <a:pPr indent="0" marL="0">
              <a:buNone/>
            </a:pPr>
            <a:r>
              <a:rPr lang="en-US" sz="1800" b="1" dirty="0">
                <a:solidFill>
                  <a:srgbClr val="BA300F"/>
                </a:solidFill>
                <a:latin typeface="Cambria" pitchFamily="34" charset="0"/>
                <a:ea typeface="Cambria" pitchFamily="34" charset="-122"/>
                <a:cs typeface="Cambria" pitchFamily="34" charset="-120"/>
              </a:rPr>
              <a:t>Accessible</a:t>
            </a:r>
            <a:endParaRPr lang="en-US" sz="1800" dirty="0"/>
          </a:p>
        </p:txBody>
      </p:sp>
      <p:sp>
        <p:nvSpPr>
          <p:cNvPr id="30" name="Text 27"/>
          <p:cNvSpPr txBox="1"/>
          <p:nvPr/>
        </p:nvSpPr>
        <p:spPr>
          <a:xfrm>
            <a:off x="9143771" y="4663440"/>
            <a:ext cx="2224964" cy="1097280"/>
          </a:xfrm>
          <a:prstGeom prst="rect">
            <a:avLst/>
          </a:prstGeom>
          <a:noFill/>
          <a:ln/>
        </p:spPr>
        <p:txBody>
          <a:bodyPr wrap="square" lIns="0" tIns="0" rIns="0" bIns="0" rtlCol="0" anchor="t"/>
          <a:lstStyle/>
          <a:p>
            <a:pPr indent="0" marL="0">
              <a:buNone/>
            </a:pPr>
            <a:r>
              <a:rPr lang="en-US" sz="1400" dirty="0">
                <a:solidFill>
                  <a:srgbClr val="15130F"/>
                </a:solidFill>
                <a:latin typeface="Calibri" pitchFamily="34" charset="0"/>
                <a:ea typeface="Calibri" pitchFamily="34" charset="-122"/>
                <a:cs typeface="Calibri" pitchFamily="34" charset="-120"/>
              </a:rPr>
              <a:t>WCAG AA contrast, focus traps, 44px touch targets, light and dark.</a:t>
            </a:r>
            <a:endParaRPr lang="en-US" sz="1400" dirty="0"/>
          </a:p>
        </p:txBody>
      </p:sp>
      <p:sp>
        <p:nvSpPr>
          <p:cNvPr id="31" name="Text 28"/>
          <p:cNvSpPr txBox="1"/>
          <p:nvPr/>
        </p:nvSpPr>
        <p:spPr>
          <a:xfrm>
            <a:off x="640080" y="6080760"/>
            <a:ext cx="8229600" cy="320040"/>
          </a:xfrm>
          <a:prstGeom prst="rect">
            <a:avLst/>
          </a:prstGeom>
          <a:noFill/>
          <a:ln/>
        </p:spPr>
        <p:txBody>
          <a:bodyPr wrap="square" lIns="0" tIns="0" rIns="0" bIns="0" rtlCol="0" anchor="ctr"/>
          <a:lstStyle/>
          <a:p>
            <a:pPr indent="0" marL="0">
              <a:buNone/>
            </a:pPr>
            <a:r>
              <a:rPr lang="en-US" sz="1400" i="1" dirty="0">
                <a:solidFill>
                  <a:srgbClr val="15130F"/>
                </a:solidFill>
                <a:latin typeface="Calibri" pitchFamily="34" charset="0"/>
                <a:ea typeface="Calibri" pitchFamily="34" charset="-122"/>
                <a:cs typeface="Calibri" pitchFamily="34" charset="-120"/>
              </a:rPr>
              <a:t>Built with Qoder, Alibaba Cloud's agentic coding platform.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DEMO</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9 / 11</a:t>
            </a:r>
            <a:endParaRPr lang="en-US" sz="1000" dirty="0"/>
          </a:p>
        </p:txBody>
      </p:sp>
      <p:sp>
        <p:nvSpPr>
          <p:cNvPr id="7" name="Text 4"/>
          <p:cNvSpPr txBox="1"/>
          <p:nvPr/>
        </p:nvSpPr>
        <p:spPr>
          <a:xfrm>
            <a:off x="640080" y="914400"/>
            <a:ext cx="10911535" cy="731520"/>
          </a:xfrm>
          <a:prstGeom prst="rect">
            <a:avLst/>
          </a:prstGeom>
          <a:noFill/>
          <a:ln/>
        </p:spPr>
        <p:txBody>
          <a:bodyPr wrap="square" lIns="0" tIns="0" rIns="0" bIns="0" rtlCol="0" anchor="t"/>
          <a:lstStyle/>
          <a:p>
            <a:pPr indent="0" marL="0">
              <a:buNone/>
            </a:pPr>
            <a:r>
              <a:rPr lang="en-US" sz="3400" b="1" dirty="0">
                <a:solidFill>
                  <a:srgbClr val="15130F"/>
                </a:solidFill>
                <a:latin typeface="Cambria" pitchFamily="34" charset="0"/>
                <a:ea typeface="Cambria" pitchFamily="34" charset="-122"/>
                <a:cs typeface="Cambria" pitchFamily="34" charset="-120"/>
              </a:rPr>
              <a:t>See it in 90 seconds</a:t>
            </a:r>
            <a:endParaRPr lang="en-US" sz="3400" dirty="0"/>
          </a:p>
        </p:txBody>
      </p:sp>
      <p:sp>
        <p:nvSpPr>
          <p:cNvPr id="8" name="Shape 5"/>
          <p:cNvSpPr/>
          <p:nvPr/>
        </p:nvSpPr>
        <p:spPr>
          <a:xfrm>
            <a:off x="2109064" y="1499616"/>
            <a:ext cx="7973568" cy="4537631"/>
          </a:xfrm>
          <a:prstGeom prst="roundRect">
            <a:avLst>
              <a:gd name="adj" fmla="val 2015"/>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pic>
        <p:nvPicPr>
          <p:cNvPr id="9" name="Image 1" descr="Demo poster frame: the study player">    </p:cNvPr>
          <p:cNvPicPr>
            <a:picLocks noChangeAspect="1"/>
          </p:cNvPicPr>
          <p:nvPr/>
        </p:nvPicPr>
        <p:blipFill>
          <a:blip r:embed="rId2"/>
          <a:srcRect l="0" r="0" t="0" b="0"/>
          <a:stretch/>
        </p:blipFill>
        <p:spPr>
          <a:xfrm>
            <a:off x="2163928" y="1554480"/>
            <a:ext cx="7863840" cy="4427903"/>
          </a:xfrm>
          <a:prstGeom prst="rect">
            <a:avLst/>
          </a:prstGeom>
        </p:spPr>
      </p:pic>
      <p:sp>
        <p:nvSpPr>
          <p:cNvPr id="10" name="Text 6"/>
          <p:cNvSpPr txBox="1"/>
          <p:nvPr/>
        </p:nvSpPr>
        <p:spPr>
          <a:xfrm>
            <a:off x="2163928" y="6165263"/>
            <a:ext cx="7863840" cy="320040"/>
          </a:xfrm>
          <a:prstGeom prst="rect">
            <a:avLst/>
          </a:prstGeom>
          <a:noFill/>
          <a:ln/>
        </p:spPr>
        <p:txBody>
          <a:bodyPr wrap="square" lIns="0" tIns="0" rIns="0" bIns="0" rtlCol="0" anchor="ctr"/>
          <a:lstStyle/>
          <a:p>
            <a:pPr algn="ctr" indent="0" marL="0">
              <a:buNone/>
            </a:pPr>
            <a:r>
              <a:rPr lang="en-US" sz="1600" dirty="0">
                <a:solidFill>
                  <a:srgbClr val="57534A"/>
                </a:solidFill>
                <a:latin typeface="Calibri" pitchFamily="34" charset="0"/>
                <a:ea typeface="Calibri" pitchFamily="34" charset="-122"/>
                <a:cs typeface="Calibri" pitchFamily="34" charset="-120"/>
              </a:rPr>
              <a:t>Recorded demo, 90 seconds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VIABILITY</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10 / 11</a:t>
            </a:r>
            <a:endParaRPr lang="en-US" sz="1000" dirty="0"/>
          </a:p>
        </p:txBody>
      </p:sp>
      <p:sp>
        <p:nvSpPr>
          <p:cNvPr id="7" name="Text 4"/>
          <p:cNvSpPr txBox="1"/>
          <p:nvPr/>
        </p:nvSpPr>
        <p:spPr>
          <a:xfrm>
            <a:off x="640080" y="914400"/>
            <a:ext cx="10911535" cy="731520"/>
          </a:xfrm>
          <a:prstGeom prst="rect">
            <a:avLst/>
          </a:prstGeom>
          <a:noFill/>
          <a:ln/>
        </p:spPr>
        <p:txBody>
          <a:bodyPr wrap="square" lIns="0" tIns="0" rIns="0" bIns="0" rtlCol="0" anchor="t"/>
          <a:lstStyle/>
          <a:p>
            <a:pPr indent="0" marL="0">
              <a:buNone/>
            </a:pPr>
            <a:r>
              <a:rPr lang="en-US" sz="3400" b="1" dirty="0">
                <a:solidFill>
                  <a:srgbClr val="15130F"/>
                </a:solidFill>
                <a:latin typeface="Cambria" pitchFamily="34" charset="0"/>
                <a:ea typeface="Cambria" pitchFamily="34" charset="-122"/>
                <a:cs typeface="Cambria" pitchFamily="34" charset="-120"/>
              </a:rPr>
              <a:t>Honest limits, and what comes next</a:t>
            </a:r>
            <a:endParaRPr lang="en-US" sz="3400" dirty="0"/>
          </a:p>
        </p:txBody>
      </p:sp>
      <p:sp>
        <p:nvSpPr>
          <p:cNvPr id="8" name="Shape 5"/>
          <p:cNvSpPr/>
          <p:nvPr/>
        </p:nvSpPr>
        <p:spPr>
          <a:xfrm>
            <a:off x="640080" y="1828800"/>
            <a:ext cx="5318608" cy="3931920"/>
          </a:xfrm>
          <a:prstGeom prst="roundRect">
            <a:avLst>
              <a:gd name="adj" fmla="val 2791"/>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9" name="Text 6"/>
          <p:cNvSpPr txBox="1"/>
          <p:nvPr/>
        </p:nvSpPr>
        <p:spPr>
          <a:xfrm>
            <a:off x="1005840" y="2103120"/>
            <a:ext cx="4587088" cy="457200"/>
          </a:xfrm>
          <a:prstGeom prst="rect">
            <a:avLst/>
          </a:prstGeom>
          <a:noFill/>
          <a:ln/>
        </p:spPr>
        <p:txBody>
          <a:bodyPr wrap="square" lIns="0" tIns="0" rIns="0" bIns="0" rtlCol="0" anchor="ctr"/>
          <a:lstStyle/>
          <a:p>
            <a:pPr indent="0" marL="0">
              <a:buNone/>
            </a:pPr>
            <a:r>
              <a:rPr lang="en-US" sz="2400" b="1" dirty="0">
                <a:solidFill>
                  <a:srgbClr val="15130F"/>
                </a:solidFill>
                <a:latin typeface="Cambria" pitchFamily="34" charset="0"/>
                <a:ea typeface="Cambria" pitchFamily="34" charset="-122"/>
                <a:cs typeface="Cambria" pitchFamily="34" charset="-120"/>
              </a:rPr>
              <a:t>Today's limits</a:t>
            </a:r>
            <a:endParaRPr lang="en-US" sz="2400" dirty="0"/>
          </a:p>
        </p:txBody>
      </p:sp>
      <p:sp>
        <p:nvSpPr>
          <p:cNvPr id="10" name="Text 7"/>
          <p:cNvSpPr txBox="1"/>
          <p:nvPr/>
        </p:nvSpPr>
        <p:spPr>
          <a:xfrm>
            <a:off x="1005840" y="2743200"/>
            <a:ext cx="4587088"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5130F"/>
                </a:solidFill>
                <a:latin typeface="Calibri" pitchFamily="34" charset="0"/>
                <a:ea typeface="Calibri" pitchFamily="34" charset="-122"/>
                <a:cs typeface="Calibri" pitchFamily="34" charset="-120"/>
              </a:rPr>
              <a:t>Needs YouTube captions on the video</a:t>
            </a:r>
            <a:endParaRPr lang="en-US" sz="1700" dirty="0"/>
          </a:p>
          <a:p>
            <a:pPr marL="342900" indent="-342900">
              <a:spcAft>
                <a:spcPts val="1000"/>
              </a:spcAft>
              <a:buSzPct val="100000"/>
              <a:buChar char="•"/>
            </a:pPr>
            <a:r>
              <a:rPr lang="en-US" sz="1700" dirty="0">
                <a:solidFill>
                  <a:srgbClr val="15130F"/>
                </a:solidFill>
                <a:latin typeface="Calibri" pitchFamily="34" charset="0"/>
                <a:ea typeface="Calibri" pitchFamily="34" charset="-122"/>
                <a:cs typeface="Calibri" pitchFamily="34" charset="-120"/>
              </a:rPr>
              <a:t>Very long lectures: only the first part of the transcript is used for chaptering</a:t>
            </a:r>
            <a:endParaRPr lang="en-US" sz="1700" dirty="0"/>
          </a:p>
          <a:p>
            <a:pPr marL="342900" indent="-342900">
              <a:spcAft>
                <a:spcPts val="1000"/>
              </a:spcAft>
              <a:buSzPct val="100000"/>
              <a:buChar char="•"/>
            </a:pPr>
            <a:r>
              <a:rPr lang="en-US" sz="1700" dirty="0">
                <a:solidFill>
                  <a:srgbClr val="15130F"/>
                </a:solidFill>
                <a:latin typeface="Calibri" pitchFamily="34" charset="0"/>
                <a:ea typeface="Calibri" pitchFamily="34" charset="-122"/>
                <a:cs typeface="Calibri" pitchFamily="34" charset="-120"/>
              </a:rPr>
              <a:t>Frame analysis needs a video download, which YouTube can block from cloud IPs</a:t>
            </a:r>
            <a:endParaRPr lang="en-US" sz="1700" dirty="0"/>
          </a:p>
          <a:p>
            <a:pPr marL="342900" indent="-342900">
              <a:spcAft>
                <a:spcPts val="1000"/>
              </a:spcAft>
              <a:buSzPct val="100000"/>
              <a:buChar char="•"/>
            </a:pPr>
            <a:r>
              <a:rPr lang="en-US" sz="1700" dirty="0">
                <a:solidFill>
                  <a:srgbClr val="15130F"/>
                </a:solidFill>
                <a:latin typeface="Calibri" pitchFamily="34" charset="0"/>
                <a:ea typeface="Calibri" pitchFamily="34" charset="-122"/>
                <a:cs typeface="Calibri" pitchFamily="34" charset="-120"/>
              </a:rPr>
              <a:t>No sign-in or rate limiting yet; test coverage is partial</a:t>
            </a:r>
            <a:endParaRPr lang="en-US" sz="1700" dirty="0"/>
          </a:p>
        </p:txBody>
      </p:sp>
      <p:sp>
        <p:nvSpPr>
          <p:cNvPr id="11" name="Shape 8"/>
          <p:cNvSpPr/>
          <p:nvPr/>
        </p:nvSpPr>
        <p:spPr>
          <a:xfrm>
            <a:off x="6233008" y="1828800"/>
            <a:ext cx="5318608" cy="3931920"/>
          </a:xfrm>
          <a:prstGeom prst="roundRect">
            <a:avLst>
              <a:gd name="adj" fmla="val 2791"/>
            </a:avLst>
          </a:prstGeom>
          <a:solidFill>
            <a:srgbClr val="FFF1EA"/>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12" name="Text 9"/>
          <p:cNvSpPr txBox="1"/>
          <p:nvPr/>
        </p:nvSpPr>
        <p:spPr>
          <a:xfrm>
            <a:off x="6598768" y="2103120"/>
            <a:ext cx="4587088" cy="457200"/>
          </a:xfrm>
          <a:prstGeom prst="rect">
            <a:avLst/>
          </a:prstGeom>
          <a:noFill/>
          <a:ln/>
        </p:spPr>
        <p:txBody>
          <a:bodyPr wrap="square" lIns="0" tIns="0" rIns="0" bIns="0" rtlCol="0" anchor="ctr"/>
          <a:lstStyle/>
          <a:p>
            <a:pPr indent="0" marL="0">
              <a:buNone/>
            </a:pPr>
            <a:r>
              <a:rPr lang="en-US" sz="2400" b="1" dirty="0">
                <a:solidFill>
                  <a:srgbClr val="BA300F"/>
                </a:solidFill>
                <a:latin typeface="Cambria" pitchFamily="34" charset="0"/>
                <a:ea typeface="Cambria" pitchFamily="34" charset="-122"/>
                <a:cs typeface="Cambria" pitchFamily="34" charset="-120"/>
              </a:rPr>
              <a:t>Roadmap</a:t>
            </a:r>
            <a:endParaRPr lang="en-US" sz="2400" dirty="0"/>
          </a:p>
        </p:txBody>
      </p:sp>
      <p:sp>
        <p:nvSpPr>
          <p:cNvPr id="13" name="Text 10"/>
          <p:cNvSpPr txBox="1"/>
          <p:nvPr/>
        </p:nvSpPr>
        <p:spPr>
          <a:xfrm>
            <a:off x="6598768" y="2743200"/>
            <a:ext cx="4587088"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5130F"/>
                </a:solidFill>
                <a:latin typeface="Calibri" pitchFamily="34" charset="0"/>
                <a:ea typeface="Calibri" pitchFamily="34" charset="-122"/>
                <a:cs typeface="Calibri" pitchFamily="34" charset="-120"/>
              </a:rPr>
              <a:t>Qwen on Alibaba Cloud Model Studio as a second model backend</a:t>
            </a:r>
            <a:endParaRPr lang="en-US" sz="1700" dirty="0"/>
          </a:p>
          <a:p>
            <a:pPr marL="342900" indent="-342900">
              <a:spcAft>
                <a:spcPts val="1000"/>
              </a:spcAft>
              <a:buSzPct val="100000"/>
              <a:buChar char="•"/>
            </a:pPr>
            <a:r>
              <a:rPr lang="en-US" sz="1700" dirty="0">
                <a:solidFill>
                  <a:srgbClr val="15130F"/>
                </a:solidFill>
                <a:latin typeface="Calibri" pitchFamily="34" charset="0"/>
                <a:ea typeface="Calibri" pitchFamily="34" charset="-122"/>
                <a:cs typeface="Calibri" pitchFamily="34" charset="-120"/>
              </a:rPr>
              <a:t>Urdu and regional-language lectures and questions</a:t>
            </a:r>
            <a:endParaRPr lang="en-US" sz="1700" dirty="0"/>
          </a:p>
          <a:p>
            <a:pPr marL="342900" indent="-342900">
              <a:spcAft>
                <a:spcPts val="1000"/>
              </a:spcAft>
              <a:buSzPct val="100000"/>
              <a:buChar char="•"/>
            </a:pPr>
            <a:r>
              <a:rPr lang="en-US" sz="1700" dirty="0">
                <a:solidFill>
                  <a:srgbClr val="15130F"/>
                </a:solidFill>
                <a:latin typeface="Calibri" pitchFamily="34" charset="0"/>
                <a:ea typeface="Calibri" pitchFamily="34" charset="-122"/>
                <a:cs typeface="Calibri" pitchFamily="34" charset="-120"/>
              </a:rPr>
              <a:t>Teacher view: class-level misconception reports</a:t>
            </a:r>
            <a:endParaRPr lang="en-US" sz="1700" dirty="0"/>
          </a:p>
          <a:p>
            <a:pPr marL="342900" indent="-342900">
              <a:spcAft>
                <a:spcPts val="1000"/>
              </a:spcAft>
              <a:buSzPct val="100000"/>
              <a:buChar char="•"/>
            </a:pPr>
            <a:r>
              <a:rPr lang="en-US" sz="1700" dirty="0">
                <a:solidFill>
                  <a:srgbClr val="15130F"/>
                </a:solidFill>
                <a:latin typeface="Calibri" pitchFamily="34" charset="0"/>
                <a:ea typeface="Calibri" pitchFamily="34" charset="-122"/>
                <a:cs typeface="Calibri" pitchFamily="34" charset="-120"/>
              </a:rPr>
              <a:t>Spaced-repetition review of flagged concepts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9966960" y="4206240"/>
            <a:ext cx="4206240" cy="4206240"/>
          </a:xfrm>
          <a:prstGeom prst="ellipse">
            <a:avLst/>
          </a:prstGeom>
          <a:solidFill>
            <a:srgbClr val="FF4D1F">
              <a:alpha val="88000"/>
            </a:srgbClr>
          </a:solidFill>
          <a:ln w="12700">
            <a:solidFill>
              <a:srgbClr val="FF4D1F">
                <a:alpha val="0"/>
              </a:srgbClr>
            </a:solidFill>
            <a:prstDash val="solid"/>
          </a:ln>
        </p:spPr>
      </p:sp>
      <p:pic>
        <p:nvPicPr>
          <p:cNvPr id="3" name="Image 0" descr="Studify AI logo">    </p:cNvPr>
          <p:cNvPicPr>
            <a:picLocks noChangeAspect="1"/>
          </p:cNvPicPr>
          <p:nvPr/>
        </p:nvPicPr>
        <p:blipFill>
          <a:blip r:embed="rId1"/>
          <a:stretch>
            <a:fillRect/>
          </a:stretch>
        </p:blipFill>
        <p:spPr>
          <a:xfrm>
            <a:off x="640080" y="457200"/>
            <a:ext cx="640080" cy="640080"/>
          </a:xfrm>
          <a:prstGeom prst="rect">
            <a:avLst/>
          </a:prstGeom>
        </p:spPr>
      </p:pic>
      <p:pic>
        <p:nvPicPr>
          <p:cNvPr id="4" name="Image 1" descr="Studify AI owl logo">    </p:cNvPr>
          <p:cNvPicPr>
            <a:picLocks noChangeAspect="1"/>
          </p:cNvPicPr>
          <p:nvPr/>
        </p:nvPicPr>
        <p:blipFill>
          <a:blip r:embed="rId2"/>
          <a:stretch>
            <a:fillRect/>
          </a:stretch>
        </p:blipFill>
        <p:spPr>
          <a:xfrm>
            <a:off x="9144000" y="1188720"/>
            <a:ext cx="2377440" cy="2377440"/>
          </a:xfrm>
          <a:prstGeom prst="rect">
            <a:avLst/>
          </a:prstGeom>
        </p:spPr>
      </p:pic>
      <p:sp>
        <p:nvSpPr>
          <p:cNvPr id="5" name="Text 1"/>
          <p:cNvSpPr txBox="1"/>
          <p:nvPr/>
        </p:nvSpPr>
        <p:spPr>
          <a:xfrm>
            <a:off x="640080" y="1371600"/>
            <a:ext cx="9144000" cy="1920240"/>
          </a:xfrm>
          <a:prstGeom prst="rect">
            <a:avLst/>
          </a:prstGeom>
          <a:noFill/>
          <a:ln/>
        </p:spPr>
        <p:txBody>
          <a:bodyPr wrap="square" lIns="0" tIns="0" rIns="0" bIns="0" rtlCol="0" anchor="t"/>
          <a:lstStyle/>
          <a:p>
            <a:pPr indent="0" marL="0">
              <a:buNone/>
            </a:pPr>
            <a:r>
              <a:rPr lang="en-US" sz="5400" b="1" dirty="0">
                <a:solidFill>
                  <a:srgbClr val="15130F"/>
                </a:solidFill>
                <a:latin typeface="Cambria" pitchFamily="34" charset="0"/>
                <a:ea typeface="Cambria" pitchFamily="34" charset="-122"/>
                <a:cs typeface="Cambria" pitchFamily="34" charset="-120"/>
              </a:rPr>
              <a:t>Capable learners,</a:t>
            </a:r>
            <a:endParaRPr lang="en-US" sz="5400" dirty="0"/>
          </a:p>
          <a:p>
            <a:pPr indent="0" marL="0">
              <a:buNone/>
            </a:pPr>
            <a:r>
              <a:rPr lang="en-US" sz="5400" b="1" dirty="0">
                <a:solidFill>
                  <a:srgbClr val="15130F"/>
                </a:solidFill>
                <a:latin typeface="Cambria" pitchFamily="34" charset="0"/>
                <a:ea typeface="Cambria" pitchFamily="34" charset="-122"/>
                <a:cs typeface="Cambria" pitchFamily="34" charset="-120"/>
              </a:rPr>
              <a:t>not dependent ones.</a:t>
            </a:r>
            <a:endParaRPr lang="en-US" sz="5400" dirty="0"/>
          </a:p>
        </p:txBody>
      </p:sp>
      <p:sp>
        <p:nvSpPr>
          <p:cNvPr id="6" name="Shape 2"/>
          <p:cNvSpPr/>
          <p:nvPr/>
        </p:nvSpPr>
        <p:spPr>
          <a:xfrm>
            <a:off x="640080" y="3566160"/>
            <a:ext cx="2834640" cy="1097280"/>
          </a:xfrm>
          <a:prstGeom prst="roundRect">
            <a:avLst>
              <a:gd name="adj" fmla="val 10000"/>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7" name="Text 3"/>
          <p:cNvSpPr txBox="1"/>
          <p:nvPr/>
        </p:nvSpPr>
        <p:spPr>
          <a:xfrm>
            <a:off x="868680" y="3566160"/>
            <a:ext cx="2468880" cy="1097280"/>
          </a:xfrm>
          <a:prstGeom prst="rect">
            <a:avLst/>
          </a:prstGeom>
          <a:noFill/>
          <a:ln/>
        </p:spPr>
        <p:txBody>
          <a:bodyPr wrap="square" lIns="0" tIns="0" rIns="0" bIns="0" rtlCol="0" anchor="ctr"/>
          <a:lstStyle/>
          <a:p>
            <a:pPr indent="0" marL="0">
              <a:buNone/>
            </a:pPr>
            <a:r>
              <a:rPr lang="en-US" sz="2000" b="1" dirty="0">
                <a:solidFill>
                  <a:srgbClr val="15130F"/>
                </a:solidFill>
                <a:latin typeface="Cambria" pitchFamily="34" charset="0"/>
                <a:ea typeface="Cambria" pitchFamily="34" charset="-122"/>
                <a:cs typeface="Cambria" pitchFamily="34" charset="-120"/>
              </a:rPr>
              <a:t>Muhammad Alyan</a:t>
            </a:r>
            <a:endParaRPr lang="en-US" sz="2000" dirty="0"/>
          </a:p>
          <a:p>
            <a:pPr indent="0" marL="0">
              <a:buNone/>
            </a:pPr>
            <a:r>
              <a:rPr lang="en-US" sz="1500" dirty="0">
                <a:solidFill>
                  <a:srgbClr val="57534A"/>
                </a:solidFill>
                <a:latin typeface="Calibri" pitchFamily="34" charset="0"/>
                <a:ea typeface="Calibri" pitchFamily="34" charset="-122"/>
                <a:cs typeface="Calibri" pitchFamily="34" charset="-120"/>
              </a:rPr>
              <a:t>Team Lead</a:t>
            </a:r>
            <a:endParaRPr lang="en-US" sz="2000" dirty="0"/>
          </a:p>
        </p:txBody>
      </p:sp>
      <p:sp>
        <p:nvSpPr>
          <p:cNvPr id="8" name="Shape 4"/>
          <p:cNvSpPr/>
          <p:nvPr/>
        </p:nvSpPr>
        <p:spPr>
          <a:xfrm>
            <a:off x="3657600" y="3566160"/>
            <a:ext cx="2834640" cy="1097280"/>
          </a:xfrm>
          <a:prstGeom prst="roundRect">
            <a:avLst>
              <a:gd name="adj" fmla="val 10000"/>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9" name="Text 5"/>
          <p:cNvSpPr txBox="1"/>
          <p:nvPr/>
        </p:nvSpPr>
        <p:spPr>
          <a:xfrm>
            <a:off x="3886200" y="3566160"/>
            <a:ext cx="2468880" cy="1097280"/>
          </a:xfrm>
          <a:prstGeom prst="rect">
            <a:avLst/>
          </a:prstGeom>
          <a:noFill/>
          <a:ln/>
        </p:spPr>
        <p:txBody>
          <a:bodyPr wrap="square" lIns="0" tIns="0" rIns="0" bIns="0" rtlCol="0" anchor="ctr"/>
          <a:lstStyle/>
          <a:p>
            <a:pPr indent="0" marL="0">
              <a:buNone/>
            </a:pPr>
            <a:r>
              <a:rPr lang="en-US" sz="2000" b="1" dirty="0">
                <a:solidFill>
                  <a:srgbClr val="15130F"/>
                </a:solidFill>
                <a:latin typeface="Cambria" pitchFamily="34" charset="0"/>
                <a:ea typeface="Cambria" pitchFamily="34" charset="-122"/>
                <a:cs typeface="Cambria" pitchFamily="34" charset="-120"/>
              </a:rPr>
              <a:t>Abdullah</a:t>
            </a:r>
            <a:endParaRPr lang="en-US" sz="2000" dirty="0"/>
          </a:p>
          <a:p>
            <a:pPr indent="0" marL="0">
              <a:buNone/>
            </a:pPr>
            <a:r>
              <a:rPr lang="en-US" sz="1500" dirty="0">
                <a:solidFill>
                  <a:srgbClr val="57534A"/>
                </a:solidFill>
                <a:latin typeface="Calibri" pitchFamily="34" charset="0"/>
                <a:ea typeface="Calibri" pitchFamily="34" charset="-122"/>
                <a:cs typeface="Calibri" pitchFamily="34" charset="-120"/>
              </a:rPr>
              <a:t>Frontend Developer</a:t>
            </a:r>
            <a:endParaRPr lang="en-US" sz="2000" dirty="0"/>
          </a:p>
        </p:txBody>
      </p:sp>
      <p:sp>
        <p:nvSpPr>
          <p:cNvPr id="10" name="Shape 6"/>
          <p:cNvSpPr/>
          <p:nvPr/>
        </p:nvSpPr>
        <p:spPr>
          <a:xfrm>
            <a:off x="6675120" y="3566160"/>
            <a:ext cx="2834640" cy="1097280"/>
          </a:xfrm>
          <a:prstGeom prst="roundRect">
            <a:avLst>
              <a:gd name="adj" fmla="val 10000"/>
            </a:avLst>
          </a:prstGeom>
          <a:solidFill>
            <a:srgbClr val="FFFFFF"/>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11" name="Text 7"/>
          <p:cNvSpPr txBox="1"/>
          <p:nvPr/>
        </p:nvSpPr>
        <p:spPr>
          <a:xfrm>
            <a:off x="6903720" y="3566160"/>
            <a:ext cx="2468880" cy="1097280"/>
          </a:xfrm>
          <a:prstGeom prst="rect">
            <a:avLst/>
          </a:prstGeom>
          <a:noFill/>
          <a:ln/>
        </p:spPr>
        <p:txBody>
          <a:bodyPr wrap="square" lIns="0" tIns="0" rIns="0" bIns="0" rtlCol="0" anchor="ctr"/>
          <a:lstStyle/>
          <a:p>
            <a:pPr indent="0" marL="0">
              <a:buNone/>
            </a:pPr>
            <a:r>
              <a:rPr lang="en-US" sz="2000" b="1" dirty="0">
                <a:solidFill>
                  <a:srgbClr val="15130F"/>
                </a:solidFill>
                <a:latin typeface="Cambria" pitchFamily="34" charset="0"/>
                <a:ea typeface="Cambria" pitchFamily="34" charset="-122"/>
                <a:cs typeface="Cambria" pitchFamily="34" charset="-120"/>
              </a:rPr>
              <a:t>Hassan Bin Gheas</a:t>
            </a:r>
            <a:endParaRPr lang="en-US" sz="2000" dirty="0"/>
          </a:p>
          <a:p>
            <a:pPr indent="0" marL="0">
              <a:buNone/>
            </a:pPr>
            <a:r>
              <a:rPr lang="en-US" sz="1500" dirty="0">
                <a:solidFill>
                  <a:srgbClr val="57534A"/>
                </a:solidFill>
                <a:latin typeface="Calibri" pitchFamily="34" charset="0"/>
                <a:ea typeface="Calibri" pitchFamily="34" charset="-122"/>
                <a:cs typeface="Calibri" pitchFamily="34" charset="-120"/>
              </a:rPr>
              <a:t>Backend Developer</a:t>
            </a:r>
            <a:endParaRPr lang="en-US" sz="2000" dirty="0"/>
          </a:p>
        </p:txBody>
      </p:sp>
      <p:sp>
        <p:nvSpPr>
          <p:cNvPr id="12" name="Text 8"/>
          <p:cNvSpPr txBox="1"/>
          <p:nvPr/>
        </p:nvSpPr>
        <p:spPr>
          <a:xfrm>
            <a:off x="640080" y="5029200"/>
            <a:ext cx="8686800" cy="502920"/>
          </a:xfrm>
          <a:prstGeom prst="rect">
            <a:avLst/>
          </a:prstGeom>
          <a:noFill/>
          <a:ln/>
        </p:spPr>
        <p:txBody>
          <a:bodyPr wrap="square" lIns="0" tIns="0" rIns="0" bIns="0" rtlCol="0" anchor="ctr"/>
          <a:lstStyle/>
          <a:p>
            <a:pPr indent="0" marL="0">
              <a:buNone/>
            </a:pPr>
            <a:r>
              <a:rPr lang="en-US" sz="2600" b="1" dirty="0">
                <a:solidFill>
                  <a:srgbClr val="BA300F"/>
                </a:solidFill>
                <a:latin typeface="Calibri" pitchFamily="34" charset="0"/>
                <a:ea typeface="Calibri" pitchFamily="34" charset="-122"/>
                <a:cs typeface="Calibri" pitchFamily="34" charset="-120"/>
              </a:rPr>
              <a:t>Try it: studify-ai-three.vercel.app</a:t>
            </a:r>
            <a:endParaRPr lang="en-US" sz="2600" dirty="0"/>
          </a:p>
        </p:txBody>
      </p:sp>
      <p:sp>
        <p:nvSpPr>
          <p:cNvPr id="13" name="Text 9"/>
          <p:cNvSpPr txBox="1"/>
          <p:nvPr/>
        </p:nvSpPr>
        <p:spPr>
          <a:xfrm>
            <a:off x="640080" y="5596128"/>
            <a:ext cx="8686800" cy="411480"/>
          </a:xfrm>
          <a:prstGeom prst="rect">
            <a:avLst/>
          </a:prstGeom>
          <a:noFill/>
          <a:ln/>
        </p:spPr>
        <p:txBody>
          <a:bodyPr wrap="square" lIns="0" tIns="0" rIns="0" bIns="0" rtlCol="0" anchor="ctr"/>
          <a:lstStyle/>
          <a:p>
            <a:pPr indent="0" marL="0">
              <a:buNone/>
            </a:pPr>
            <a:r>
              <a:rPr lang="en-US" sz="2000" b="1" dirty="0">
                <a:solidFill>
                  <a:srgbClr val="BA300F"/>
                </a:solidFill>
                <a:latin typeface="Calibri" pitchFamily="34" charset="0"/>
                <a:ea typeface="Calibri" pitchFamily="34" charset="-122"/>
                <a:cs typeface="Calibri" pitchFamily="34" charset="-120"/>
              </a:rPr>
              <a:t>github.com/HassaanGhayas/Zed_AI</a:t>
            </a:r>
            <a:endParaRPr lang="en-US" sz="2000" dirty="0"/>
          </a:p>
        </p:txBody>
      </p:sp>
      <p:sp>
        <p:nvSpPr>
          <p:cNvPr id="14" name="Text 10"/>
          <p:cNvSpPr txBox="1"/>
          <p:nvPr/>
        </p:nvSpPr>
        <p:spPr>
          <a:xfrm>
            <a:off x="640080" y="6035040"/>
            <a:ext cx="8229600" cy="365760"/>
          </a:xfrm>
          <a:prstGeom prst="rect">
            <a:avLst/>
          </a:prstGeom>
          <a:noFill/>
          <a:ln/>
        </p:spPr>
        <p:txBody>
          <a:bodyPr wrap="square" lIns="0" tIns="0" rIns="0" bIns="0" rtlCol="0" anchor="ctr"/>
          <a:lstStyle/>
          <a:p>
            <a:pPr indent="0" marL="0">
              <a:buNone/>
            </a:pPr>
            <a:r>
              <a:rPr lang="en-US" sz="1800" i="1" dirty="0">
                <a:solidFill>
                  <a:srgbClr val="15130F"/>
                </a:solidFill>
                <a:latin typeface="Cambria" pitchFamily="34" charset="0"/>
                <a:ea typeface="Cambria" pitchFamily="34" charset="-122"/>
                <a:cs typeface="Cambria" pitchFamily="34" charset="-120"/>
              </a:rPr>
              <a:t>Thank you. Questions?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BACKUP</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Backup A</a:t>
            </a:r>
            <a:endParaRPr lang="en-US" sz="1000" dirty="0"/>
          </a:p>
        </p:txBody>
      </p:sp>
      <p:sp>
        <p:nvSpPr>
          <p:cNvPr id="7" name="Text 4"/>
          <p:cNvSpPr txBox="1"/>
          <p:nvPr/>
        </p:nvSpPr>
        <p:spPr>
          <a:xfrm>
            <a:off x="640080" y="914400"/>
            <a:ext cx="10911535" cy="731520"/>
          </a:xfrm>
          <a:prstGeom prst="rect">
            <a:avLst/>
          </a:prstGeom>
          <a:noFill/>
          <a:ln/>
        </p:spPr>
        <p:txBody>
          <a:bodyPr wrap="square" lIns="0" tIns="0" rIns="0" bIns="0" rtlCol="0" anchor="t"/>
          <a:lstStyle/>
          <a:p>
            <a:pPr indent="0" marL="0">
              <a:buNone/>
            </a:pPr>
            <a:r>
              <a:rPr lang="en-US" sz="3200" b="1" dirty="0">
                <a:solidFill>
                  <a:srgbClr val="15130F"/>
                </a:solidFill>
                <a:latin typeface="Cambria" pitchFamily="34" charset="0"/>
                <a:ea typeface="Cambria" pitchFamily="34" charset="-122"/>
                <a:cs typeface="Cambria" pitchFamily="34" charset="-120"/>
              </a:rPr>
              <a:t>Backup: how an answer is graded</a:t>
            </a:r>
            <a:endParaRPr lang="en-US" sz="3200" dirty="0"/>
          </a:p>
        </p:txBody>
      </p:sp>
      <p:sp>
        <p:nvSpPr>
          <p:cNvPr id="8" name="Shape 5"/>
          <p:cNvSpPr/>
          <p:nvPr/>
        </p:nvSpPr>
        <p:spPr>
          <a:xfrm>
            <a:off x="640080" y="1691640"/>
            <a:ext cx="1828800" cy="621792"/>
          </a:xfrm>
          <a:prstGeom prst="roundRect">
            <a:avLst>
              <a:gd name="adj" fmla="val 14706"/>
            </a:avLst>
          </a:prstGeom>
          <a:solidFill>
            <a:srgbClr val="FFF1EA"/>
          </a:solidFill>
          <a:ln w="12700">
            <a:solidFill>
              <a:srgbClr val="FFF1EA"/>
            </a:solidFill>
            <a:prstDash val="solid"/>
          </a:ln>
        </p:spPr>
      </p:sp>
      <p:sp>
        <p:nvSpPr>
          <p:cNvPr id="9" name="Text 6"/>
          <p:cNvSpPr txBox="1"/>
          <p:nvPr/>
        </p:nvSpPr>
        <p:spPr>
          <a:xfrm>
            <a:off x="640080" y="1691640"/>
            <a:ext cx="1828800" cy="621792"/>
          </a:xfrm>
          <a:prstGeom prst="rect">
            <a:avLst/>
          </a:prstGeom>
          <a:noFill/>
          <a:ln/>
        </p:spPr>
        <p:txBody>
          <a:bodyPr wrap="square" lIns="0" tIns="0" rIns="0" bIns="0" rtlCol="0" anchor="ctr"/>
          <a:lstStyle/>
          <a:p>
            <a:pPr algn="ctr" indent="0" marL="0">
              <a:buNone/>
            </a:pPr>
            <a:r>
              <a:rPr lang="en-US" sz="1700" b="1" dirty="0">
                <a:solidFill>
                  <a:srgbClr val="BA300F"/>
                </a:solidFill>
                <a:latin typeface="Cambria" pitchFamily="34" charset="0"/>
                <a:ea typeface="Cambria" pitchFamily="34" charset="-122"/>
                <a:cs typeface="Cambria" pitchFamily="34" charset="-120"/>
              </a:rPr>
              <a:t>Inputs</a:t>
            </a:r>
            <a:endParaRPr lang="en-US" sz="1700" dirty="0"/>
          </a:p>
        </p:txBody>
      </p:sp>
      <p:sp>
        <p:nvSpPr>
          <p:cNvPr id="10" name="Text 7"/>
          <p:cNvSpPr txBox="1"/>
          <p:nvPr/>
        </p:nvSpPr>
        <p:spPr>
          <a:xfrm>
            <a:off x="2743200" y="1691640"/>
            <a:ext cx="8808415" cy="621792"/>
          </a:xfrm>
          <a:prstGeom prst="rect">
            <a:avLst/>
          </a:prstGeom>
          <a:noFill/>
          <a:ln/>
        </p:spPr>
        <p:txBody>
          <a:bodyPr wrap="square" lIns="0" tIns="0" rIns="0" bIns="0" rtlCol="0" anchor="ctr"/>
          <a:lstStyle/>
          <a:p>
            <a:pPr indent="0" marL="0">
              <a:buNone/>
            </a:pPr>
            <a:r>
              <a:rPr lang="en-US" sz="1600" dirty="0">
                <a:solidFill>
                  <a:srgbClr val="15130F"/>
                </a:solidFill>
                <a:latin typeface="Calibri" pitchFamily="34" charset="0"/>
                <a:ea typeface="Calibri" pitchFamily="34" charset="-122"/>
                <a:cs typeface="Calibri" pitchFamily="34" charset="-120"/>
              </a:rPr>
              <a:t>Question, expected concept, chapter summary, transcript excerpt, student answer, attempt number, prior attempts</a:t>
            </a:r>
            <a:endParaRPr lang="en-US" sz="1600" dirty="0"/>
          </a:p>
        </p:txBody>
      </p:sp>
      <p:sp>
        <p:nvSpPr>
          <p:cNvPr id="11" name="Shape 8"/>
          <p:cNvSpPr/>
          <p:nvPr/>
        </p:nvSpPr>
        <p:spPr>
          <a:xfrm>
            <a:off x="640080" y="2459736"/>
            <a:ext cx="1828800" cy="621792"/>
          </a:xfrm>
          <a:prstGeom prst="roundRect">
            <a:avLst>
              <a:gd name="adj" fmla="val 14706"/>
            </a:avLst>
          </a:prstGeom>
          <a:solidFill>
            <a:srgbClr val="FFF1EA"/>
          </a:solidFill>
          <a:ln w="12700">
            <a:solidFill>
              <a:srgbClr val="FFF1EA"/>
            </a:solidFill>
            <a:prstDash val="solid"/>
          </a:ln>
        </p:spPr>
      </p:sp>
      <p:sp>
        <p:nvSpPr>
          <p:cNvPr id="12" name="Text 9"/>
          <p:cNvSpPr txBox="1"/>
          <p:nvPr/>
        </p:nvSpPr>
        <p:spPr>
          <a:xfrm>
            <a:off x="640080" y="2459736"/>
            <a:ext cx="1828800" cy="621792"/>
          </a:xfrm>
          <a:prstGeom prst="rect">
            <a:avLst/>
          </a:prstGeom>
          <a:noFill/>
          <a:ln/>
        </p:spPr>
        <p:txBody>
          <a:bodyPr wrap="square" lIns="0" tIns="0" rIns="0" bIns="0" rtlCol="0" anchor="ctr"/>
          <a:lstStyle/>
          <a:p>
            <a:pPr algn="ctr" indent="0" marL="0">
              <a:buNone/>
            </a:pPr>
            <a:r>
              <a:rPr lang="en-US" sz="1700" b="1" dirty="0">
                <a:solidFill>
                  <a:srgbClr val="BA300F"/>
                </a:solidFill>
                <a:latin typeface="Cambria" pitchFamily="34" charset="0"/>
                <a:ea typeface="Cambria" pitchFamily="34" charset="-122"/>
                <a:cs typeface="Cambria" pitchFamily="34" charset="-120"/>
              </a:rPr>
              <a:t>Outputs</a:t>
            </a:r>
            <a:endParaRPr lang="en-US" sz="1700" dirty="0"/>
          </a:p>
        </p:txBody>
      </p:sp>
      <p:sp>
        <p:nvSpPr>
          <p:cNvPr id="13" name="Text 10"/>
          <p:cNvSpPr txBox="1"/>
          <p:nvPr/>
        </p:nvSpPr>
        <p:spPr>
          <a:xfrm>
            <a:off x="2743200" y="2459736"/>
            <a:ext cx="8808415" cy="621792"/>
          </a:xfrm>
          <a:prstGeom prst="rect">
            <a:avLst/>
          </a:prstGeom>
          <a:noFill/>
          <a:ln/>
        </p:spPr>
        <p:txBody>
          <a:bodyPr wrap="square" lIns="0" tIns="0" rIns="0" bIns="0" rtlCol="0" anchor="ctr"/>
          <a:lstStyle/>
          <a:p>
            <a:pPr indent="0" marL="0">
              <a:buNone/>
            </a:pPr>
            <a:r>
              <a:rPr lang="en-US" sz="1600" dirty="0">
                <a:solidFill>
                  <a:srgbClr val="15130F"/>
                </a:solidFill>
                <a:latin typeface="Calibri" pitchFamily="34" charset="0"/>
                <a:ea typeface="Calibri" pitchFamily="34" charset="-122"/>
                <a:cs typeface="Calibri" pitchFamily="34" charset="-120"/>
              </a:rPr>
              <a:t>Status, mastery score 0-100, understood / missing / misconceptions, retry question, advance and review flags</a:t>
            </a:r>
            <a:endParaRPr lang="en-US" sz="1600" dirty="0"/>
          </a:p>
        </p:txBody>
      </p:sp>
      <p:sp>
        <p:nvSpPr>
          <p:cNvPr id="14" name="Shape 11"/>
          <p:cNvSpPr/>
          <p:nvPr/>
        </p:nvSpPr>
        <p:spPr>
          <a:xfrm>
            <a:off x="640080" y="3227832"/>
            <a:ext cx="1828800" cy="621792"/>
          </a:xfrm>
          <a:prstGeom prst="roundRect">
            <a:avLst>
              <a:gd name="adj" fmla="val 14706"/>
            </a:avLst>
          </a:prstGeom>
          <a:solidFill>
            <a:srgbClr val="FFF1EA"/>
          </a:solidFill>
          <a:ln w="12700">
            <a:solidFill>
              <a:srgbClr val="FFF1EA"/>
            </a:solidFill>
            <a:prstDash val="solid"/>
          </a:ln>
        </p:spPr>
      </p:sp>
      <p:sp>
        <p:nvSpPr>
          <p:cNvPr id="15" name="Text 12"/>
          <p:cNvSpPr txBox="1"/>
          <p:nvPr/>
        </p:nvSpPr>
        <p:spPr>
          <a:xfrm>
            <a:off x="640080" y="3227832"/>
            <a:ext cx="1828800" cy="621792"/>
          </a:xfrm>
          <a:prstGeom prst="rect">
            <a:avLst/>
          </a:prstGeom>
          <a:noFill/>
          <a:ln/>
        </p:spPr>
        <p:txBody>
          <a:bodyPr wrap="square" lIns="0" tIns="0" rIns="0" bIns="0" rtlCol="0" anchor="ctr"/>
          <a:lstStyle/>
          <a:p>
            <a:pPr algn="ctr" indent="0" marL="0">
              <a:buNone/>
            </a:pPr>
            <a:r>
              <a:rPr lang="en-US" sz="1700" b="1" dirty="0">
                <a:solidFill>
                  <a:srgbClr val="BA300F"/>
                </a:solidFill>
                <a:latin typeface="Cambria" pitchFamily="34" charset="0"/>
                <a:ea typeface="Cambria" pitchFamily="34" charset="-122"/>
                <a:cs typeface="Cambria" pitchFamily="34" charset="-120"/>
              </a:rPr>
              <a:t>Attempt 1</a:t>
            </a:r>
            <a:endParaRPr lang="en-US" sz="1700" dirty="0"/>
          </a:p>
        </p:txBody>
      </p:sp>
      <p:sp>
        <p:nvSpPr>
          <p:cNvPr id="16" name="Text 13"/>
          <p:cNvSpPr txBox="1"/>
          <p:nvPr/>
        </p:nvSpPr>
        <p:spPr>
          <a:xfrm>
            <a:off x="2743200" y="3227832"/>
            <a:ext cx="8808415" cy="621792"/>
          </a:xfrm>
          <a:prstGeom prst="rect">
            <a:avLst/>
          </a:prstGeom>
          <a:noFill/>
          <a:ln/>
        </p:spPr>
        <p:txBody>
          <a:bodyPr wrap="square" lIns="0" tIns="0" rIns="0" bIns="0" rtlCol="0" anchor="ctr"/>
          <a:lstStyle/>
          <a:p>
            <a:pPr indent="0" marL="0">
              <a:buNone/>
            </a:pPr>
            <a:r>
              <a:rPr lang="en-US" sz="1600" dirty="0">
                <a:solidFill>
                  <a:srgbClr val="15130F"/>
                </a:solidFill>
                <a:latin typeface="Calibri" pitchFamily="34" charset="0"/>
                <a:ea typeface="Calibri" pitchFamily="34" charset="-122"/>
                <a:cs typeface="Calibri" pitchFamily="34" charset="-120"/>
              </a:rPr>
              <a:t>Rephrase the question to guide toward missing concepts</a:t>
            </a:r>
            <a:endParaRPr lang="en-US" sz="1600" dirty="0"/>
          </a:p>
        </p:txBody>
      </p:sp>
      <p:sp>
        <p:nvSpPr>
          <p:cNvPr id="17" name="Shape 14"/>
          <p:cNvSpPr/>
          <p:nvPr/>
        </p:nvSpPr>
        <p:spPr>
          <a:xfrm>
            <a:off x="640080" y="3995928"/>
            <a:ext cx="1828800" cy="621792"/>
          </a:xfrm>
          <a:prstGeom prst="roundRect">
            <a:avLst>
              <a:gd name="adj" fmla="val 14706"/>
            </a:avLst>
          </a:prstGeom>
          <a:solidFill>
            <a:srgbClr val="FFF1EA"/>
          </a:solidFill>
          <a:ln w="12700">
            <a:solidFill>
              <a:srgbClr val="FFF1EA"/>
            </a:solidFill>
            <a:prstDash val="solid"/>
          </a:ln>
        </p:spPr>
      </p:sp>
      <p:sp>
        <p:nvSpPr>
          <p:cNvPr id="18" name="Text 15"/>
          <p:cNvSpPr txBox="1"/>
          <p:nvPr/>
        </p:nvSpPr>
        <p:spPr>
          <a:xfrm>
            <a:off x="640080" y="3995928"/>
            <a:ext cx="1828800" cy="621792"/>
          </a:xfrm>
          <a:prstGeom prst="rect">
            <a:avLst/>
          </a:prstGeom>
          <a:noFill/>
          <a:ln/>
        </p:spPr>
        <p:txBody>
          <a:bodyPr wrap="square" lIns="0" tIns="0" rIns="0" bIns="0" rtlCol="0" anchor="ctr"/>
          <a:lstStyle/>
          <a:p>
            <a:pPr algn="ctr" indent="0" marL="0">
              <a:buNone/>
            </a:pPr>
            <a:r>
              <a:rPr lang="en-US" sz="1700" b="1" dirty="0">
                <a:solidFill>
                  <a:srgbClr val="BA300F"/>
                </a:solidFill>
                <a:latin typeface="Cambria" pitchFamily="34" charset="0"/>
                <a:ea typeface="Cambria" pitchFamily="34" charset="-122"/>
                <a:cs typeface="Cambria" pitchFamily="34" charset="-120"/>
              </a:rPr>
              <a:t>Attempt 2</a:t>
            </a:r>
            <a:endParaRPr lang="en-US" sz="1700" dirty="0"/>
          </a:p>
        </p:txBody>
      </p:sp>
      <p:sp>
        <p:nvSpPr>
          <p:cNvPr id="19" name="Text 16"/>
          <p:cNvSpPr txBox="1"/>
          <p:nvPr/>
        </p:nvSpPr>
        <p:spPr>
          <a:xfrm>
            <a:off x="2743200" y="3995928"/>
            <a:ext cx="8808415" cy="621792"/>
          </a:xfrm>
          <a:prstGeom prst="rect">
            <a:avLst/>
          </a:prstGeom>
          <a:noFill/>
          <a:ln/>
        </p:spPr>
        <p:txBody>
          <a:bodyPr wrap="square" lIns="0" tIns="0" rIns="0" bIns="0" rtlCol="0" anchor="ctr"/>
          <a:lstStyle/>
          <a:p>
            <a:pPr indent="0" marL="0">
              <a:buNone/>
            </a:pPr>
            <a:r>
              <a:rPr lang="en-US" sz="1600" dirty="0">
                <a:solidFill>
                  <a:srgbClr val="15130F"/>
                </a:solidFill>
                <a:latin typeface="Calibri" pitchFamily="34" charset="0"/>
                <a:ea typeface="Calibri" pitchFamily="34" charset="-122"/>
                <a:cs typeface="Calibri" pitchFamily="34" charset="-120"/>
              </a:rPr>
              <a:t>Narrower question aimed at the identified misconception</a:t>
            </a:r>
            <a:endParaRPr lang="en-US" sz="1600" dirty="0"/>
          </a:p>
        </p:txBody>
      </p:sp>
      <p:sp>
        <p:nvSpPr>
          <p:cNvPr id="20" name="Shape 17"/>
          <p:cNvSpPr/>
          <p:nvPr/>
        </p:nvSpPr>
        <p:spPr>
          <a:xfrm>
            <a:off x="640080" y="4764024"/>
            <a:ext cx="1828800" cy="621792"/>
          </a:xfrm>
          <a:prstGeom prst="roundRect">
            <a:avLst>
              <a:gd name="adj" fmla="val 14706"/>
            </a:avLst>
          </a:prstGeom>
          <a:solidFill>
            <a:srgbClr val="FFF1EA"/>
          </a:solidFill>
          <a:ln w="12700">
            <a:solidFill>
              <a:srgbClr val="FFF1EA"/>
            </a:solidFill>
            <a:prstDash val="solid"/>
          </a:ln>
        </p:spPr>
      </p:sp>
      <p:sp>
        <p:nvSpPr>
          <p:cNvPr id="21" name="Text 18"/>
          <p:cNvSpPr txBox="1"/>
          <p:nvPr/>
        </p:nvSpPr>
        <p:spPr>
          <a:xfrm>
            <a:off x="640080" y="4764024"/>
            <a:ext cx="1828800" cy="621792"/>
          </a:xfrm>
          <a:prstGeom prst="rect">
            <a:avLst/>
          </a:prstGeom>
          <a:noFill/>
          <a:ln/>
        </p:spPr>
        <p:txBody>
          <a:bodyPr wrap="square" lIns="0" tIns="0" rIns="0" bIns="0" rtlCol="0" anchor="ctr"/>
          <a:lstStyle/>
          <a:p>
            <a:pPr algn="ctr" indent="0" marL="0">
              <a:buNone/>
            </a:pPr>
            <a:r>
              <a:rPr lang="en-US" sz="1700" b="1" dirty="0">
                <a:solidFill>
                  <a:srgbClr val="BA300F"/>
                </a:solidFill>
                <a:latin typeface="Cambria" pitchFamily="34" charset="0"/>
                <a:ea typeface="Cambria" pitchFamily="34" charset="-122"/>
                <a:cs typeface="Cambria" pitchFamily="34" charset="-120"/>
              </a:rPr>
              <a:t>Attempt 3</a:t>
            </a:r>
            <a:endParaRPr lang="en-US" sz="1700" dirty="0"/>
          </a:p>
        </p:txBody>
      </p:sp>
      <p:sp>
        <p:nvSpPr>
          <p:cNvPr id="22" name="Text 19"/>
          <p:cNvSpPr txBox="1"/>
          <p:nvPr/>
        </p:nvSpPr>
        <p:spPr>
          <a:xfrm>
            <a:off x="2743200" y="4764024"/>
            <a:ext cx="8808415" cy="621792"/>
          </a:xfrm>
          <a:prstGeom prst="rect">
            <a:avLst/>
          </a:prstGeom>
          <a:noFill/>
          <a:ln/>
        </p:spPr>
        <p:txBody>
          <a:bodyPr wrap="square" lIns="0" tIns="0" rIns="0" bIns="0" rtlCol="0" anchor="ctr"/>
          <a:lstStyle/>
          <a:p>
            <a:pPr indent="0" marL="0">
              <a:buNone/>
            </a:pPr>
            <a:r>
              <a:rPr lang="en-US" sz="1600" dirty="0">
                <a:solidFill>
                  <a:srgbClr val="15130F"/>
                </a:solidFill>
                <a:latin typeface="Calibri" pitchFamily="34" charset="0"/>
                <a:ea typeface="Calibri" pitchFamily="34" charset="-122"/>
                <a:cs typeface="Calibri" pitchFamily="34" charset="-120"/>
              </a:rPr>
              <a:t>No retry. Flag Needs Review and let the student move on. Never auto-marked correct</a:t>
            </a:r>
            <a:endParaRPr lang="en-US" sz="1600" dirty="0"/>
          </a:p>
        </p:txBody>
      </p:sp>
      <p:sp>
        <p:nvSpPr>
          <p:cNvPr id="23" name="Shape 20"/>
          <p:cNvSpPr/>
          <p:nvPr/>
        </p:nvSpPr>
        <p:spPr>
          <a:xfrm>
            <a:off x="640080" y="5532120"/>
            <a:ext cx="1828800" cy="621792"/>
          </a:xfrm>
          <a:prstGeom prst="roundRect">
            <a:avLst>
              <a:gd name="adj" fmla="val 14706"/>
            </a:avLst>
          </a:prstGeom>
          <a:solidFill>
            <a:srgbClr val="FFF1EA"/>
          </a:solidFill>
          <a:ln w="12700">
            <a:solidFill>
              <a:srgbClr val="FFF1EA"/>
            </a:solidFill>
            <a:prstDash val="solid"/>
          </a:ln>
        </p:spPr>
      </p:sp>
      <p:sp>
        <p:nvSpPr>
          <p:cNvPr id="24" name="Text 21"/>
          <p:cNvSpPr txBox="1"/>
          <p:nvPr/>
        </p:nvSpPr>
        <p:spPr>
          <a:xfrm>
            <a:off x="640080" y="5532120"/>
            <a:ext cx="1828800" cy="621792"/>
          </a:xfrm>
          <a:prstGeom prst="rect">
            <a:avLst/>
          </a:prstGeom>
          <a:noFill/>
          <a:ln/>
        </p:spPr>
        <p:txBody>
          <a:bodyPr wrap="square" lIns="0" tIns="0" rIns="0" bIns="0" rtlCol="0" anchor="ctr"/>
          <a:lstStyle/>
          <a:p>
            <a:pPr algn="ctr" indent="0" marL="0">
              <a:buNone/>
            </a:pPr>
            <a:r>
              <a:rPr lang="en-US" sz="1700" b="1" dirty="0">
                <a:solidFill>
                  <a:srgbClr val="BA300F"/>
                </a:solidFill>
                <a:latin typeface="Cambria" pitchFamily="34" charset="0"/>
                <a:ea typeface="Cambria" pitchFamily="34" charset="-122"/>
                <a:cs typeface="Cambria" pitchFamily="34" charset="-120"/>
              </a:rPr>
              <a:t>No Gemini</a:t>
            </a:r>
            <a:endParaRPr lang="en-US" sz="1700" dirty="0"/>
          </a:p>
        </p:txBody>
      </p:sp>
      <p:sp>
        <p:nvSpPr>
          <p:cNvPr id="25" name="Text 22"/>
          <p:cNvSpPr txBox="1"/>
          <p:nvPr/>
        </p:nvSpPr>
        <p:spPr>
          <a:xfrm>
            <a:off x="2743200" y="5532120"/>
            <a:ext cx="8808415" cy="621792"/>
          </a:xfrm>
          <a:prstGeom prst="rect">
            <a:avLst/>
          </a:prstGeom>
          <a:noFill/>
          <a:ln/>
        </p:spPr>
        <p:txBody>
          <a:bodyPr wrap="square" lIns="0" tIns="0" rIns="0" bIns="0" rtlCol="0" anchor="ctr"/>
          <a:lstStyle/>
          <a:p>
            <a:pPr indent="0" marL="0">
              <a:buNone/>
            </a:pPr>
            <a:r>
              <a:rPr lang="en-US" sz="1600" dirty="0">
                <a:solidFill>
                  <a:srgbClr val="15130F"/>
                </a:solidFill>
                <a:latin typeface="Calibri" pitchFamily="34" charset="0"/>
                <a:ea typeface="Calibri" pitchFamily="34" charset="-122"/>
                <a:cs typeface="Calibri" pitchFamily="34" charset="-120"/>
              </a:rPr>
              <a:t>Keyword-overlap heuristic evaluator keeps the flow alive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7"/>
        </a:solidFill>
      </p:bgPr>
    </p:bg>
    <p:spTree>
      <p:nvGrpSpPr>
        <p:cNvPr id="1" name=""/>
        <p:cNvGrpSpPr/>
        <p:nvPr/>
      </p:nvGrpSpPr>
      <p:grpSpPr>
        <a:xfrm>
          <a:off x="0" y="0"/>
          <a:ext cx="0" cy="0"/>
          <a:chOff x="0" y="0"/>
          <a:chExt cx="0" cy="0"/>
        </a:xfrm>
      </p:grpSpPr>
      <p:pic>
        <p:nvPicPr>
          <p:cNvPr id="2" name="Image 0" descr="Studify AI logo">    </p:cNvPr>
          <p:cNvPicPr>
            <a:picLocks noChangeAspect="1"/>
          </p:cNvPicPr>
          <p:nvPr/>
        </p:nvPicPr>
        <p:blipFill>
          <a:blip r:embed="rId1"/>
          <a:stretch>
            <a:fillRect/>
          </a:stretch>
        </p:blipFill>
        <p:spPr>
          <a:xfrm>
            <a:off x="640080" y="347472"/>
            <a:ext cx="365760" cy="365760"/>
          </a:xfrm>
          <a:prstGeom prst="rect">
            <a:avLst/>
          </a:prstGeom>
        </p:spPr>
      </p:pic>
      <p:sp>
        <p:nvSpPr>
          <p:cNvPr id="3" name="Text 0"/>
          <p:cNvSpPr txBox="1"/>
          <p:nvPr/>
        </p:nvSpPr>
        <p:spPr>
          <a:xfrm>
            <a:off x="1097280" y="347472"/>
            <a:ext cx="2194560" cy="365760"/>
          </a:xfrm>
          <a:prstGeom prst="rect">
            <a:avLst/>
          </a:prstGeom>
          <a:noFill/>
          <a:ln/>
        </p:spPr>
        <p:txBody>
          <a:bodyPr wrap="square" lIns="0" tIns="0" rIns="0" bIns="0" rtlCol="0" anchor="ctr"/>
          <a:lstStyle/>
          <a:p>
            <a:pPr indent="0" marL="0">
              <a:buNone/>
            </a:pPr>
            <a:r>
              <a:rPr lang="en-US" sz="1400" b="1" dirty="0">
                <a:solidFill>
                  <a:srgbClr val="15130F"/>
                </a:solidFill>
                <a:latin typeface="Cambria" pitchFamily="34" charset="0"/>
                <a:ea typeface="Cambria" pitchFamily="34" charset="-122"/>
                <a:cs typeface="Cambria" pitchFamily="34" charset="-120"/>
              </a:rPr>
              <a:t>Studify AI</a:t>
            </a:r>
            <a:endParaRPr lang="en-US" sz="1400" dirty="0"/>
          </a:p>
        </p:txBody>
      </p:sp>
      <p:sp>
        <p:nvSpPr>
          <p:cNvPr id="4" name="Shape 1"/>
          <p:cNvSpPr/>
          <p:nvPr/>
        </p:nvSpPr>
        <p:spPr>
          <a:xfrm>
            <a:off x="9448495" y="365760"/>
            <a:ext cx="2103120" cy="329184"/>
          </a:xfrm>
          <a:prstGeom prst="roundRect">
            <a:avLst>
              <a:gd name="adj" fmla="val 50000"/>
            </a:avLst>
          </a:prstGeom>
          <a:solidFill>
            <a:srgbClr val="FFF1EA"/>
          </a:solidFill>
          <a:ln w="12700">
            <a:solidFill>
              <a:srgbClr val="FFF1EA"/>
            </a:solidFill>
            <a:prstDash val="solid"/>
          </a:ln>
        </p:spPr>
      </p:sp>
      <p:sp>
        <p:nvSpPr>
          <p:cNvPr id="5" name="Text 2"/>
          <p:cNvSpPr txBox="1"/>
          <p:nvPr/>
        </p:nvSpPr>
        <p:spPr>
          <a:xfrm>
            <a:off x="9448495" y="365760"/>
            <a:ext cx="2103120" cy="329184"/>
          </a:xfrm>
          <a:prstGeom prst="rect">
            <a:avLst/>
          </a:prstGeom>
          <a:noFill/>
          <a:ln/>
        </p:spPr>
        <p:txBody>
          <a:bodyPr wrap="square" lIns="0" tIns="0" rIns="0" bIns="0" rtlCol="0" anchor="ctr"/>
          <a:lstStyle/>
          <a:p>
            <a:pPr algn="ctr" indent="0" marL="0">
              <a:buNone/>
            </a:pPr>
            <a:r>
              <a:rPr lang="en-US" sz="1100" b="1" spc="200" kern="0" dirty="0">
                <a:solidFill>
                  <a:srgbClr val="BA300F"/>
                </a:solidFill>
                <a:latin typeface="Calibri" pitchFamily="34" charset="0"/>
                <a:ea typeface="Calibri" pitchFamily="34" charset="-122"/>
                <a:cs typeface="Calibri" pitchFamily="34" charset="-120"/>
              </a:rPr>
              <a:t>BACKUP</a:t>
            </a:r>
            <a:endParaRPr lang="en-US" sz="1100" dirty="0"/>
          </a:p>
        </p:txBody>
      </p:sp>
      <p:sp>
        <p:nvSpPr>
          <p:cNvPr id="6" name="Text 3"/>
          <p:cNvSpPr txBox="1"/>
          <p:nvPr/>
        </p:nvSpPr>
        <p:spPr>
          <a:xfrm>
            <a:off x="10454335" y="6400800"/>
            <a:ext cx="1097280" cy="274320"/>
          </a:xfrm>
          <a:prstGeom prst="rect">
            <a:avLst/>
          </a:prstGeom>
          <a:noFill/>
          <a:ln/>
        </p:spPr>
        <p:txBody>
          <a:bodyPr wrap="square" lIns="0" tIns="0" rIns="0" bIns="0" rtlCol="0" anchor="ctr"/>
          <a:lstStyle/>
          <a:p>
            <a:pPr algn="r" indent="0" marL="0">
              <a:buNone/>
            </a:pPr>
            <a:r>
              <a:rPr lang="en-US" sz="1000" dirty="0">
                <a:solidFill>
                  <a:srgbClr val="7D786D"/>
                </a:solidFill>
                <a:latin typeface="Calibri" pitchFamily="34" charset="0"/>
                <a:ea typeface="Calibri" pitchFamily="34" charset="-122"/>
                <a:cs typeface="Calibri" pitchFamily="34" charset="-120"/>
              </a:rPr>
              <a:t>Backup B</a:t>
            </a:r>
            <a:endParaRPr lang="en-US" sz="1000" dirty="0"/>
          </a:p>
        </p:txBody>
      </p:sp>
      <p:sp>
        <p:nvSpPr>
          <p:cNvPr id="7" name="Text 4"/>
          <p:cNvSpPr txBox="1"/>
          <p:nvPr/>
        </p:nvSpPr>
        <p:spPr>
          <a:xfrm>
            <a:off x="640080" y="914400"/>
            <a:ext cx="10911535" cy="731520"/>
          </a:xfrm>
          <a:prstGeom prst="rect">
            <a:avLst/>
          </a:prstGeom>
          <a:noFill/>
          <a:ln/>
        </p:spPr>
        <p:txBody>
          <a:bodyPr wrap="square" lIns="0" tIns="0" rIns="0" bIns="0" rtlCol="0" anchor="t"/>
          <a:lstStyle/>
          <a:p>
            <a:pPr indent="0" marL="0">
              <a:buNone/>
            </a:pPr>
            <a:r>
              <a:rPr lang="en-US" sz="3200" b="1" dirty="0">
                <a:solidFill>
                  <a:srgbClr val="15130F"/>
                </a:solidFill>
                <a:latin typeface="Cambria" pitchFamily="34" charset="0"/>
                <a:ea typeface="Cambria" pitchFamily="34" charset="-122"/>
                <a:cs typeface="Cambria" pitchFamily="34" charset="-120"/>
              </a:rPr>
              <a:t>Backup: API surface and resilience</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6949440" cy="914400"/>
        </p:xfrm>
        <a:graphic>
          <a:graphicData uri="http://schemas.openxmlformats.org/drawingml/2006/table">
            <a:tbl>
              <a:tblPr/>
              <a:tblGrid>
                <a:gridCol w="3474720"/>
                <a:gridCol w="347472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Endpoint</a:t>
                      </a:r>
                      <a:endParaRPr lang="en-US" sz="15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BA300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BA300F"/>
                    </a:solidFill>
                  </a:tcPr>
                </a:tc>
              </a:tr>
              <a:tr h="566928">
                <a:tc>
                  <a:txBody>
                    <a:bodyPr/>
                    <a:lstStyle/>
                    <a:p>
                      <a:pPr indent="0" marL="0">
                        <a:buNone/>
                      </a:pPr>
                      <a:r>
                        <a:rPr lang="en-US" sz="1400" b="1" dirty="0">
                          <a:solidFill>
                            <a:srgbClr val="15130F"/>
                          </a:solidFill>
                          <a:latin typeface="Calibri" pitchFamily="34" charset="0"/>
                          <a:ea typeface="Calibri" pitchFamily="34" charset="-122"/>
                          <a:cs typeface="Calibri" pitchFamily="34" charset="-120"/>
                        </a:rPr>
                        <a:t>POST /api/video/process</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c>
                  <a:txBody>
                    <a:bodyPr/>
                    <a:lstStyle/>
                    <a:p>
                      <a:pPr indent="0" marL="0">
                        <a:buNone/>
                      </a:pPr>
                      <a:r>
                        <a:rPr lang="en-US" sz="1400" dirty="0">
                          <a:solidFill>
                            <a:srgbClr val="15130F"/>
                          </a:solidFill>
                          <a:latin typeface="Calibri" pitchFamily="34" charset="0"/>
                          <a:ea typeface="Calibri" pitchFamily="34" charset="-122"/>
                          <a:cs typeface="Calibri" pitchFamily="34" charset="-120"/>
                        </a:rPr>
                        <a:t>URL to captions to 3-6 chapters with questions</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5130F"/>
                          </a:solidFill>
                          <a:latin typeface="Calibri" pitchFamily="34" charset="0"/>
                          <a:ea typeface="Calibri" pitchFamily="34" charset="-122"/>
                          <a:cs typeface="Calibri" pitchFamily="34" charset="-120"/>
                        </a:rPr>
                        <a:t>POST /api/qa/evaluate</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c>
                  <a:txBody>
                    <a:bodyPr/>
                    <a:lstStyle/>
                    <a:p>
                      <a:pPr indent="0" marL="0">
                        <a:buNone/>
                      </a:pPr>
                      <a:r>
                        <a:rPr lang="en-US" sz="1400" dirty="0">
                          <a:solidFill>
                            <a:srgbClr val="15130F"/>
                          </a:solidFill>
                          <a:latin typeface="Calibri" pitchFamily="34" charset="0"/>
                          <a:ea typeface="Calibri" pitchFamily="34" charset="-122"/>
                          <a:cs typeface="Calibri" pitchFamily="34" charset="-120"/>
                        </a:rPr>
                        <a:t>Socratic grading with adaptive follow-up</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5130F"/>
                          </a:solidFill>
                          <a:latin typeface="Calibri" pitchFamily="34" charset="0"/>
                          <a:ea typeface="Calibri" pitchFamily="34" charset="-122"/>
                          <a:cs typeface="Calibri" pitchFamily="34" charset="-120"/>
                        </a:rPr>
                        <a:t>POST /api/video/explain-frame</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c>
                  <a:txBody>
                    <a:bodyPr/>
                    <a:lstStyle/>
                    <a:p>
                      <a:pPr indent="0" marL="0">
                        <a:buNone/>
                      </a:pPr>
                      <a:r>
                        <a:rPr lang="en-US" sz="1400" dirty="0">
                          <a:solidFill>
                            <a:srgbClr val="15130F"/>
                          </a:solidFill>
                          <a:latin typeface="Calibri" pitchFamily="34" charset="0"/>
                          <a:ea typeface="Calibri" pitchFamily="34" charset="-122"/>
                          <a:cs typeface="Calibri" pitchFamily="34" charset="-120"/>
                        </a:rPr>
                        <a:t>Gemini vision on the paused frame</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5130F"/>
                          </a:solidFill>
                          <a:latin typeface="Calibri" pitchFamily="34" charset="0"/>
                          <a:ea typeface="Calibri" pitchFamily="34" charset="-122"/>
                          <a:cs typeface="Calibri" pitchFamily="34" charset="-120"/>
                        </a:rPr>
                        <a:t>POST /api/video/segment-visual</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c>
                  <a:txBody>
                    <a:bodyPr/>
                    <a:lstStyle/>
                    <a:p>
                      <a:pPr indent="0" marL="0">
                        <a:buNone/>
                      </a:pPr>
                      <a:r>
                        <a:rPr lang="en-US" sz="1400" dirty="0">
                          <a:solidFill>
                            <a:srgbClr val="15130F"/>
                          </a:solidFill>
                          <a:latin typeface="Calibri" pitchFamily="34" charset="0"/>
                          <a:ea typeface="Calibri" pitchFamily="34" charset="-122"/>
                          <a:cs typeface="Calibri" pitchFamily="34" charset="-120"/>
                        </a:rPr>
                        <a:t>Key frame analysis plus a flashcard</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5130F"/>
                          </a:solidFill>
                          <a:latin typeface="Calibri" pitchFamily="34" charset="0"/>
                          <a:ea typeface="Calibri" pitchFamily="34" charset="-122"/>
                          <a:cs typeface="Calibri" pitchFamily="34" charset="-120"/>
                        </a:rPr>
                        <a:t>POST /api/voice/transcribe</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c>
                  <a:txBody>
                    <a:bodyPr/>
                    <a:lstStyle/>
                    <a:p>
                      <a:pPr indent="0" marL="0">
                        <a:buNone/>
                      </a:pPr>
                      <a:r>
                        <a:rPr lang="en-US" sz="1400" dirty="0">
                          <a:solidFill>
                            <a:srgbClr val="15130F"/>
                          </a:solidFill>
                          <a:latin typeface="Calibri" pitchFamily="34" charset="0"/>
                          <a:ea typeface="Calibri" pitchFamily="34" charset="-122"/>
                          <a:cs typeface="Calibri" pitchFamily="34" charset="-120"/>
                        </a:rPr>
                        <a:t>Spoken answer to text</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5130F"/>
                          </a:solidFill>
                          <a:latin typeface="Calibri" pitchFamily="34" charset="0"/>
                          <a:ea typeface="Calibri" pitchFamily="34" charset="-122"/>
                          <a:cs typeface="Calibri" pitchFamily="34" charset="-120"/>
                        </a:rPr>
                        <a:t>POST /api/notes/generate | download-pdf</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c>
                  <a:txBody>
                    <a:bodyPr/>
                    <a:lstStyle/>
                    <a:p>
                      <a:pPr indent="0" marL="0">
                        <a:buNone/>
                      </a:pPr>
                      <a:r>
                        <a:rPr lang="en-US" sz="1400" dirty="0">
                          <a:solidFill>
                            <a:srgbClr val="15130F"/>
                          </a:solidFill>
                          <a:latin typeface="Calibri" pitchFamily="34" charset="0"/>
                          <a:ea typeface="Calibri" pitchFamily="34" charset="-122"/>
                          <a:cs typeface="Calibri" pitchFamily="34" charset="-120"/>
                        </a:rPr>
                        <a:t>Personalised notes, then themed PDF</a:t>
                      </a:r>
                      <a:endParaRPr lang="en-US" sz="1400" dirty="0">
                        <a:latin typeface="Calibri" charset="0"/>
                        <a:ea typeface="Calibri" charset="0"/>
                        <a:cs typeface="Calibri" charset="0"/>
                      </a:endParaRPr>
                    </a:p>
                  </a:txBody>
                  <a:tcPr marL="91440" marR="91440" marT="91440" marB="91440">
                    <a:lnL w="12700" cap="flat" cmpd="sng" algn="ctr">
                      <a:solidFill>
                        <a:srgbClr val="E5E2DD"/>
                      </a:solidFill>
                      <a:prstDash val="solid"/>
                      <a:round/>
                      <a:headEnd type="none" w="med" len="med"/>
                      <a:tailEnd type="none" w="med" len="med"/>
                    </a:lnL>
                    <a:lnR w="12700" cap="flat" cmpd="sng" algn="ctr">
                      <a:solidFill>
                        <a:srgbClr val="E5E2DD"/>
                      </a:solidFill>
                      <a:prstDash val="solid"/>
                      <a:round/>
                      <a:headEnd type="none" w="med" len="med"/>
                      <a:tailEnd type="none" w="med" len="med"/>
                    </a:lnR>
                    <a:lnT w="12700" cap="flat" cmpd="sng" algn="ctr">
                      <a:solidFill>
                        <a:srgbClr val="E5E2DD"/>
                      </a:solidFill>
                      <a:prstDash val="solid"/>
                      <a:round/>
                      <a:headEnd type="none" w="med" len="med"/>
                      <a:tailEnd type="none" w="med" len="med"/>
                    </a:lnT>
                    <a:lnB w="12700" cap="flat" cmpd="sng" algn="ctr">
                      <a:solidFill>
                        <a:srgbClr val="E5E2DD"/>
                      </a:solidFill>
                      <a:prstDash val="solid"/>
                      <a:round/>
                      <a:headEnd type="none" w="med" len="med"/>
                      <a:tailEnd type="none" w="med" len="med"/>
                    </a:lnB>
                    <a:solidFill>
                      <a:srgbClr val="FFFFFF"/>
                    </a:solidFill>
                  </a:tcPr>
                </a:tc>
              </a:tr>
            </a:tbl>
          </a:graphicData>
        </a:graphic>
      </p:graphicFrame>
      <p:sp>
        <p:nvSpPr>
          <p:cNvPr id="9" name="Shape 5"/>
          <p:cNvSpPr/>
          <p:nvPr/>
        </p:nvSpPr>
        <p:spPr>
          <a:xfrm>
            <a:off x="7863840" y="1737360"/>
            <a:ext cx="3687775" cy="3931920"/>
          </a:xfrm>
          <a:prstGeom prst="roundRect">
            <a:avLst>
              <a:gd name="adj" fmla="val 2975"/>
            </a:avLst>
          </a:prstGeom>
          <a:solidFill>
            <a:srgbClr val="FFF1EA"/>
          </a:solidFill>
          <a:ln w="12700">
            <a:solidFill>
              <a:srgbClr val="E5E2DD"/>
            </a:solidFill>
            <a:prstDash val="solid"/>
          </a:ln>
          <a:effectLst>
            <a:outerShdw sx="100000" sy="100000" kx="0" ky="0" algn="bl" rotWithShape="0" blurRad="127000" dist="25400" dir="5400000">
              <a:srgbClr val="000000">
                <a:alpha val="12000"/>
              </a:srgbClr>
            </a:outerShdw>
          </a:effectLst>
        </p:spPr>
      </p:sp>
      <p:sp>
        <p:nvSpPr>
          <p:cNvPr id="10" name="Text 6"/>
          <p:cNvSpPr txBox="1"/>
          <p:nvPr/>
        </p:nvSpPr>
        <p:spPr>
          <a:xfrm>
            <a:off x="8138160" y="1920240"/>
            <a:ext cx="3139135" cy="3566160"/>
          </a:xfrm>
          <a:prstGeom prst="rect">
            <a:avLst/>
          </a:prstGeom>
          <a:noFill/>
          <a:ln/>
        </p:spPr>
        <p:txBody>
          <a:bodyPr wrap="square" lIns="0" tIns="0" rIns="0" bIns="0" rtlCol="0" anchor="t"/>
          <a:lstStyle/>
          <a:p>
            <a:pPr indent="0" marL="0">
              <a:spcAft>
                <a:spcPts val="800"/>
              </a:spcAft>
              <a:buNone/>
            </a:pPr>
            <a:r>
              <a:rPr lang="en-US" sz="2000" b="1" dirty="0">
                <a:solidFill>
                  <a:srgbClr val="BA300F"/>
                </a:solidFill>
                <a:latin typeface="Cambria" pitchFamily="34" charset="0"/>
                <a:ea typeface="Cambria" pitchFamily="34" charset="-122"/>
                <a:cs typeface="Cambria" pitchFamily="34" charset="-120"/>
              </a:rPr>
              <a:t>Resilience</a:t>
            </a:r>
            <a:endParaRPr lang="en-US" sz="1600" dirty="0"/>
          </a:p>
          <a:p>
            <a:pPr marL="342900" indent="-342900">
              <a:spcAft>
                <a:spcPts val="600"/>
              </a:spcAft>
              <a:buSzPct val="100000"/>
              <a:buChar char="•"/>
            </a:pPr>
            <a:r>
              <a:rPr lang="en-US" sz="1600" dirty="0">
                <a:solidFill>
                  <a:srgbClr val="15130F"/>
                </a:solidFill>
                <a:latin typeface="Calibri" pitchFamily="34" charset="0"/>
                <a:ea typeface="Calibri" pitchFamily="34" charset="-122"/>
                <a:cs typeface="Calibri" pitchFamily="34" charset="-120"/>
              </a:rPr>
              <a:t>3-model Gemini fallback chain</a:t>
            </a:r>
            <a:endParaRPr lang="en-US" sz="1600" dirty="0"/>
          </a:p>
          <a:p>
            <a:pPr marL="342900" indent="-342900">
              <a:spcAft>
                <a:spcPts val="600"/>
              </a:spcAft>
              <a:buSzPct val="100000"/>
              <a:buChar char="•"/>
            </a:pPr>
            <a:r>
              <a:rPr lang="en-US" sz="1600" dirty="0">
                <a:solidFill>
                  <a:srgbClr val="15130F"/>
                </a:solidFill>
                <a:latin typeface="Calibri" pitchFamily="34" charset="0"/>
                <a:ea typeface="Calibri" pitchFamily="34" charset="-122"/>
                <a:cs typeface="Calibri" pitchFamily="34" charset="-120"/>
              </a:rPr>
              <a:t>Timeline repair for hallucinated timestamps</a:t>
            </a:r>
            <a:endParaRPr lang="en-US" sz="1600" dirty="0"/>
          </a:p>
          <a:p>
            <a:pPr marL="342900" indent="-342900">
              <a:spcAft>
                <a:spcPts val="600"/>
              </a:spcAft>
              <a:buSzPct val="100000"/>
              <a:buChar char="•"/>
            </a:pPr>
            <a:r>
              <a:rPr lang="en-US" sz="1600" dirty="0">
                <a:solidFill>
                  <a:srgbClr val="15130F"/>
                </a:solidFill>
                <a:latin typeface="Calibri" pitchFamily="34" charset="0"/>
                <a:ea typeface="Calibri" pitchFamily="34" charset="-122"/>
                <a:cs typeface="Calibri" pitchFamily="34" charset="-120"/>
              </a:rPr>
              <a:t>Transcript cache, retries, best caption track</a:t>
            </a:r>
            <a:endParaRPr lang="en-US" sz="1600" dirty="0"/>
          </a:p>
          <a:p>
            <a:pPr marL="342900" indent="-342900">
              <a:buSzPct val="100000"/>
              <a:buChar char="•"/>
            </a:pPr>
            <a:r>
              <a:rPr lang="en-US" sz="1600" dirty="0">
                <a:solidFill>
                  <a:srgbClr val="15130F"/>
                </a:solidFill>
                <a:latin typeface="Calibri" pitchFamily="34" charset="0"/>
                <a:ea typeface="Calibri" pitchFamily="34" charset="-122"/>
                <a:cs typeface="Calibri" pitchFamily="34" charset="-120"/>
              </a:rPr>
              <a:t>Heuristic chaptering, grading, and notes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Studify AI - AI Hackathon Pakistan 2026</dc:title>
  <dc:subject>PptxGenJS Presentation</dc:subject>
  <dc:creator>Team Studify AI</dc:creator>
  <cp:lastModifiedBy>Team Studify AI</cp:lastModifiedBy>
  <cp:revision>1</cp:revision>
  <dcterms:created xsi:type="dcterms:W3CDTF">2026-10-01T22:39:54Z</dcterms:created>
  <dcterms:modified xsi:type="dcterms:W3CDTF">2026-10-01T22:39:54Z</dcterms:modified>
</cp:coreProperties>
</file>